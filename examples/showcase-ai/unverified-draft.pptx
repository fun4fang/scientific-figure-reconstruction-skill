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Default Extension="png" ContentType="image/png"/>
  <ns0:Override PartName="/ppt/presentation.xml" ContentType="application/vnd.openxmlformats-officedocument.presentationml.presentation.main+xml"/>
  <ns0:Override PartName="/ppt/slides/slide1.xml" ContentType="application/vnd.openxmlformats-officedocument.presentationml.slide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presProps.xml" ContentType="application/vnd.openxmlformats-officedocument.presentationml.presProps+xml"/>
  <ns0:Override PartName="/ppt/theme/theme1.xml" ContentType="application/vnd.openxmlformats-officedocument.them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096000"/>
  <p:notesSz cx="6858000" cy="9144000"/>
</p:presentation>
</file>

<file path=ppt/presProps.xml><?xml version="1.0" encoding="utf-8"?>
<p:presentationPr xmlns:p="http://schemas.openxmlformats.org/presentationml/2006/main"/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presProps" Target="presProps.xml" /><ns0:Relationship Id="rId4" Type="http://schemas.openxmlformats.org/officeDocument/2006/relationships/theme" Target="theme/theme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800" kern="1200"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slide1-shape-2" descr="uf:canonical_id=panel_a;uf:object_type=shape;uf:representation=NATIVE_SIMPLE_SHAPE;uf:shape=roundRect"/>
          <p:cNvSpPr/>
          <p:nvPr/>
        </p:nvSpPr>
        <p:spPr>
          <a:xfrm>
            <a:off x="125016" y="631031"/>
            <a:ext cx="8899922" cy="2553891"/>
          </a:xfrm>
          <a:prstGeom prst="roundRect">
            <a:avLst/>
          </a:prstGeom>
          <a:solidFill>
            <a:srgbClr val="FFFFFF">
              <a:alpha val="100000"/>
            </a:srgbClr>
          </a:solidFill>
          <a:ln w="22860">
            <a:solidFill>
              <a:srgbClr val="A3BACD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3" name="pptx-slide1-shape-3" descr="uf:canonical_id=panel_b;uf:object_type=shape;uf:representation=NATIVE_SIMPLE_SHAPE;uf:shape=roundRect"/>
          <p:cNvSpPr/>
          <p:nvPr/>
        </p:nvSpPr>
        <p:spPr>
          <a:xfrm>
            <a:off x="125016" y="3321844"/>
            <a:ext cx="8899922" cy="2119312"/>
          </a:xfrm>
          <a:prstGeom prst="roundRect">
            <a:avLst/>
          </a:prstGeom>
          <a:solidFill>
            <a:srgbClr val="FFFFFF">
              <a:alpha val="100000"/>
            </a:srgbClr>
          </a:solidFill>
          <a:ln w="22860">
            <a:solidFill>
              <a:srgbClr val="A3BACD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4" name="pptx-slide1-shape-4" descr="uf:canonical_id=assessment_panel;uf:object_type=shape;uf:representation=NATIVE_SIMPLE_SHAPE;uf:shape=roundRect"/>
          <p:cNvSpPr/>
          <p:nvPr/>
        </p:nvSpPr>
        <p:spPr>
          <a:xfrm>
            <a:off x="6357938" y="3649266"/>
            <a:ext cx="2613422" cy="1696641"/>
          </a:xfrm>
          <a:prstGeom prst="roundRect">
            <a:avLst/>
          </a:prstGeom>
          <a:solidFill>
            <a:srgbClr val="F7FBFD">
              <a:alpha val="100000"/>
            </a:srgbClr>
          </a:solidFill>
          <a:ln w="12700">
            <a:solidFill>
              <a:srgbClr val="B5CADB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5" name="pptx-slide1-shape-5" descr="uf:canonical_id=acquisition_panel;uf:object_type=shape;uf:representation=NATIVE_SIMPLE_SHAPE;uf:shape=roundRect"/>
          <p:cNvSpPr/>
          <p:nvPr/>
        </p:nvSpPr>
        <p:spPr>
          <a:xfrm>
            <a:off x="190500" y="3649266"/>
            <a:ext cx="2411016" cy="1690688"/>
          </a:xfrm>
          <a:prstGeom prst="roundRect">
            <a:avLst/>
          </a:prstGeom>
          <a:solidFill>
            <a:srgbClr val="F7FBFD">
              <a:alpha val="100000"/>
            </a:srgbClr>
          </a:solidFill>
          <a:ln w="12700">
            <a:solidFill>
              <a:srgbClr val="B5CADB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6" name="pptx-slide1-shape-6" descr="uf:canonical_id=parallel_panel;uf:object_type=shape;uf:representation=NATIVE_SIMPLE_SHAPE;uf:shape=roundRect"/>
          <p:cNvSpPr/>
          <p:nvPr/>
        </p:nvSpPr>
        <p:spPr>
          <a:xfrm>
            <a:off x="2649141" y="3649266"/>
            <a:ext cx="1946672" cy="1696641"/>
          </a:xfrm>
          <a:prstGeom prst="roundRect">
            <a:avLst/>
          </a:prstGeom>
          <a:solidFill>
            <a:srgbClr val="F9FCFE">
              <a:alpha val="100000"/>
            </a:srgbClr>
          </a:solidFill>
          <a:ln w="12700">
            <a:solidFill>
              <a:srgbClr val="B5CADB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7" name="pptx-slide1-shape-7" descr="uf:canonical_id=fusion_panel;uf:object_type=shape;uf:representation=NATIVE_SIMPLE_SHAPE;uf:shape=roundRect"/>
          <p:cNvSpPr/>
          <p:nvPr/>
        </p:nvSpPr>
        <p:spPr>
          <a:xfrm>
            <a:off x="4655344" y="3649266"/>
            <a:ext cx="1654969" cy="1696641"/>
          </a:xfrm>
          <a:prstGeom prst="roundRect">
            <a:avLst/>
          </a:prstGeom>
          <a:solidFill>
            <a:srgbClr val="F9FCFE">
              <a:alpha val="100000"/>
            </a:srgbClr>
          </a:solidFill>
          <a:ln w="12700">
            <a:solidFill>
              <a:srgbClr val="B5CADB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8" name="pptx-slide1-shape-8" descr="uf:canonical_id=legend_step_swatch;uf:object_type=shape;uf:representation=NATIVE_SIMPLE_SHAPE;uf:shape=roundRect"/>
          <p:cNvSpPr/>
          <p:nvPr/>
        </p:nvSpPr>
        <p:spPr>
          <a:xfrm>
            <a:off x="1910953" y="5595938"/>
            <a:ext cx="452438" cy="232172"/>
          </a:xfrm>
          <a:prstGeom prst="roundRect">
            <a:avLst/>
          </a:prstGeom>
          <a:solidFill>
            <a:srgbClr val="DCEEFB">
              <a:alpha val="100000"/>
            </a:srgbClr>
          </a:solidFill>
          <a:ln w="24130">
            <a:solidFill>
              <a:srgbClr val="005A9C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9" name="pptx-slide1-shape-9" descr="uf:canonical_id=title;uf:object_type=text;uf:representation=NATIVE_TEXT;uf:text_fit=PASS;uf:text_rotation=0"/>
          <p:cNvSpPr txBox="1"/>
          <p:nvPr/>
        </p:nvSpPr>
        <p:spPr>
          <a:xfrm>
            <a:off x="1160859" y="41672"/>
            <a:ext cx="6846094" cy="279797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en-US" sz="1875" b="1" i="0">
                <a:solidFill>
                  <a:srgbClr val="073858"/>
                </a:solidFill>
                <a:latin typeface="Arial Narrow"/>
              </a:rPr>
              <a:t>AI-Assisted Structural Defect Inspection and Risk Assessment</a:t>
            </a:r>
            <a:endParaRPr lang="en-US"/>
          </a:p>
        </p:txBody>
      </p:sp>
      <p:sp>
        <p:nvSpPr>
          <p:cNvPr id="10" name="pptx-slide1-shape-10" descr="uf:canonical_id=fusion;uf:object_type=text;uf:representation=NATIVE_TEXT;uf:text_fit=PASS;uf:text_rotation=0"/>
          <p:cNvSpPr/>
          <p:nvPr/>
        </p:nvSpPr>
        <p:spPr>
          <a:xfrm>
            <a:off x="4768453" y="4167188"/>
            <a:ext cx="1214438" cy="726281"/>
          </a:xfrm>
          <a:prstGeom prst="roundRect">
            <a:avLst/>
          </a:prstGeom>
          <a:solidFill>
            <a:srgbClr val="DCEEFB"/>
          </a:solidFill>
          <a:ln w="11311">
            <a:solidFill>
              <a:srgbClr val="005A9C"/>
            </a:solidFill>
          </a:ln>
        </p:spPr>
        <p:txBody>
          <a:bodyPr wrap="none" anchor="ctr" lIns="125016" tIns="375047" rIns="113109" bIns="59531">
            <a:noAutofit/>
          </a:bodyPr>
          <a:lstStyle/>
          <a:p>
            <a:pPr algn="ctr"/>
            <a:r>
              <a:rPr lang="en-US" sz="1031" b="1" i="0">
                <a:solidFill>
                  <a:srgbClr val="073B60"/>
                </a:solidFill>
                <a:latin typeface="Arial Narrow"/>
              </a:rPr>
              <a:t>Defect</a:t>
            </a:r>
            <a:endParaRPr lang="en-US"/>
          </a:p>
          <a:p>
            <a:pPr algn="ctr"/>
            <a:r>
              <a:rPr lang="en-US" sz="1031" b="1" i="0">
                <a:solidFill>
                  <a:srgbClr val="073B60"/>
                </a:solidFill>
                <a:latin typeface="Arial Narrow"/>
              </a:rPr>
              <a:t>evidence fusion</a:t>
            </a:r>
            <a:endParaRPr lang="en-US"/>
          </a:p>
        </p:txBody>
      </p:sp>
      <p:sp>
        <p:nvSpPr>
          <p:cNvPr id="11" name="pptx-slide1-shape-11" descr="uf:canonical_id=panel_b_heading;uf:object_type=text;uf:representation=NATIVE_TEXT;uf:text_fit=PASS;uf:text_rotation=0"/>
          <p:cNvSpPr txBox="1"/>
          <p:nvPr/>
        </p:nvSpPr>
        <p:spPr>
          <a:xfrm>
            <a:off x="208359" y="3369469"/>
            <a:ext cx="3631406" cy="226219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1406" b="1" i="0">
                <a:solidFill>
                  <a:srgbClr val="073858"/>
                </a:solidFill>
                <a:latin typeface="Arial Narrow"/>
              </a:rPr>
              <a:t>(b) Analysis and decision workflow</a:t>
            </a:r>
            <a:endParaRPr lang="en-US"/>
          </a:p>
        </p:txBody>
      </p:sp>
      <p:sp>
        <p:nvSpPr>
          <p:cNvPr id="12" name="pptx-slide1-shape-12" descr="uf:canonical_id=quality;uf:object_type=text;uf:representation=NATIVE_TEXT;uf:text_fit=PASS;uf:text_rotation=0"/>
          <p:cNvSpPr/>
          <p:nvPr/>
        </p:nvSpPr>
        <p:spPr>
          <a:xfrm>
            <a:off x="1518047" y="4167188"/>
            <a:ext cx="1047750" cy="726281"/>
          </a:xfrm>
          <a:prstGeom prst="roundRect">
            <a:avLst/>
          </a:prstGeom>
          <a:solidFill>
            <a:srgbClr val="DCEEFB"/>
          </a:solidFill>
          <a:ln w="11311">
            <a:solidFill>
              <a:srgbClr val="005A9C"/>
            </a:solidFill>
          </a:ln>
        </p:spPr>
        <p:txBody>
          <a:bodyPr wrap="none" anchor="ctr" lIns="130969" tIns="381000" rIns="101203" bIns="59531">
            <a:noAutofit/>
          </a:bodyPr>
          <a:lstStyle/>
          <a:p>
            <a:pPr algn="ctr"/>
            <a:r>
              <a:rPr lang="en-US" sz="1031" b="1" i="0">
                <a:solidFill>
                  <a:srgbClr val="073B60"/>
                </a:solidFill>
                <a:latin typeface="Arial Narrow"/>
              </a:rPr>
              <a:t>Image quality</a:t>
            </a:r>
            <a:endParaRPr lang="en-US"/>
          </a:p>
          <a:p>
            <a:pPr algn="ctr"/>
            <a:r>
              <a:rPr lang="en-US" sz="1031" b="1" i="0">
                <a:solidFill>
                  <a:srgbClr val="073B60"/>
                </a:solidFill>
                <a:latin typeface="Arial Narrow"/>
              </a:rPr>
              <a:t>control</a:t>
            </a:r>
            <a:endParaRPr lang="en-US"/>
          </a:p>
        </p:txBody>
      </p:sp>
      <p:sp>
        <p:nvSpPr>
          <p:cNvPr id="13" name="pptx-slide1-shape-13" descr="uf:canonical_id=capture;uf:object_type=text;uf:representation=NATIVE_TEXT;uf:text_fit=PASS;uf:text_rotation=0"/>
          <p:cNvSpPr/>
          <p:nvPr/>
        </p:nvSpPr>
        <p:spPr>
          <a:xfrm>
            <a:off x="244078" y="4179094"/>
            <a:ext cx="1023938" cy="714375"/>
          </a:xfrm>
          <a:prstGeom prst="roundRect">
            <a:avLst/>
          </a:prstGeom>
          <a:solidFill>
            <a:srgbClr val="DCEEFB"/>
          </a:solidFill>
          <a:ln w="11311">
            <a:solidFill>
              <a:srgbClr val="005A9C"/>
            </a:solidFill>
          </a:ln>
        </p:spPr>
        <p:txBody>
          <a:bodyPr wrap="none" anchor="ctr" lIns="136922" tIns="369094" rIns="130969" bIns="59531">
            <a:noAutofit/>
          </a:bodyPr>
          <a:lstStyle/>
          <a:p>
            <a:pPr algn="ctr"/>
            <a:r>
              <a:rPr lang="en-US" sz="1031" b="1" i="0">
                <a:solidFill>
                  <a:srgbClr val="073B60"/>
                </a:solidFill>
                <a:latin typeface="Arial Narrow"/>
              </a:rPr>
              <a:t>UAV image</a:t>
            </a:r>
            <a:endParaRPr lang="en-US"/>
          </a:p>
          <a:p>
            <a:pPr algn="ctr"/>
            <a:r>
              <a:rPr lang="en-US" sz="1031" b="1" i="0">
                <a:solidFill>
                  <a:srgbClr val="073B60"/>
                </a:solidFill>
                <a:latin typeface="Arial Narrow"/>
              </a:rPr>
              <a:t>capture</a:t>
            </a:r>
            <a:endParaRPr lang="en-US"/>
          </a:p>
        </p:txBody>
      </p:sp>
      <p:sp>
        <p:nvSpPr>
          <p:cNvPr id="14" name="pptx-slide1-shape-14" descr="uf:canonical_id=subtitle;uf:object_type=text;uf:representation=NATIVE_TEXT;uf:text_fit=PASS;uf:text_rotation=0"/>
          <p:cNvSpPr txBox="1"/>
          <p:nvPr/>
        </p:nvSpPr>
        <p:spPr>
          <a:xfrm>
            <a:off x="2696766" y="345281"/>
            <a:ext cx="3577828" cy="20240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en-US" sz="1406" b="0" i="0">
                <a:solidFill>
                  <a:srgbClr val="555E69"/>
                </a:solidFill>
                <a:latin typeface="Arial Narrow"/>
              </a:rPr>
              <a:t>Illustrative workflow — no experimental results</a:t>
            </a:r>
            <a:endParaRPr lang="en-US"/>
          </a:p>
        </p:txBody>
      </p:sp>
      <p:sp>
        <p:nvSpPr>
          <p:cNvPr id="15" name="pptx-slide1-shape-15" descr="uf:canonical_id=risk;uf:object_type=text;uf:representation=NATIVE_TEXT;uf:text_fit=PASS;uf:text_rotation=0"/>
          <p:cNvSpPr/>
          <p:nvPr/>
        </p:nvSpPr>
        <p:spPr>
          <a:xfrm>
            <a:off x="8018859" y="4155281"/>
            <a:ext cx="910828" cy="750094"/>
          </a:xfrm>
          <a:prstGeom prst="roundRect">
            <a:avLst/>
          </a:prstGeom>
          <a:solidFill>
            <a:srgbClr val="DCEEFB"/>
          </a:solidFill>
          <a:ln w="11311">
            <a:solidFill>
              <a:srgbClr val="005A9C"/>
            </a:solidFill>
          </a:ln>
        </p:spPr>
        <p:txBody>
          <a:bodyPr wrap="none" anchor="ctr" lIns="65484" tIns="470297" rIns="59531" bIns="107156">
            <a:noAutofit/>
          </a:bodyPr>
          <a:lstStyle/>
          <a:p>
            <a:pPr algn="ctr"/>
            <a:r>
              <a:rPr lang="en-US" sz="1031" b="1" i="0">
                <a:solidFill>
                  <a:srgbClr val="073B60"/>
                </a:solidFill>
                <a:latin typeface="Arial Narrow"/>
              </a:rPr>
              <a:t>Risk review</a:t>
            </a:r>
            <a:endParaRPr lang="en-US"/>
          </a:p>
        </p:txBody>
      </p:sp>
      <p:sp>
        <p:nvSpPr>
          <p:cNvPr id="16" name="pptx-slide1-shape-16" descr="uf:canonical_id=crack;uf:object_type=text;uf:representation=NATIVE_TEXT;uf:text_fit=PASS;uf:text_rotation=0"/>
          <p:cNvSpPr/>
          <p:nvPr/>
        </p:nvSpPr>
        <p:spPr>
          <a:xfrm>
            <a:off x="3042047" y="3940969"/>
            <a:ext cx="1166812" cy="547688"/>
          </a:xfrm>
          <a:prstGeom prst="roundRect">
            <a:avLst/>
          </a:prstGeom>
          <a:solidFill>
            <a:srgbClr val="DCEEFB"/>
          </a:solidFill>
          <a:ln w="11311">
            <a:solidFill>
              <a:srgbClr val="005A9C"/>
            </a:solidFill>
          </a:ln>
        </p:spPr>
        <p:txBody>
          <a:bodyPr wrap="none" anchor="ctr" lIns="476250" tIns="125016" rIns="35719" bIns="130969">
            <a:noAutofit/>
          </a:bodyPr>
          <a:lstStyle/>
          <a:p>
            <a:pPr algn="l"/>
            <a:r>
              <a:rPr lang="en-US" sz="984" b="1" i="0">
                <a:solidFill>
                  <a:srgbClr val="073B60"/>
                </a:solidFill>
                <a:latin typeface="Arial Narrow"/>
              </a:rPr>
              <a:t>Crack</a:t>
            </a:r>
            <a:endParaRPr lang="en-US"/>
          </a:p>
          <a:p>
            <a:pPr algn="l"/>
            <a:r>
              <a:rPr lang="en-US" sz="984" b="1" i="0">
                <a:solidFill>
                  <a:srgbClr val="073B60"/>
                </a:solidFill>
                <a:latin typeface="Arial Narrow"/>
              </a:rPr>
              <a:t>segmentation</a:t>
            </a:r>
            <a:endParaRPr lang="en-US"/>
          </a:p>
        </p:txBody>
      </p:sp>
      <p:sp>
        <p:nvSpPr>
          <p:cNvPr id="17" name="pptx-slide1-shape-17" descr="uf:canonical_id=surface;uf:object_type=text;uf:representation=NATIVE_TEXT;uf:text_fit=PASS;uf:text_rotation=0"/>
          <p:cNvSpPr/>
          <p:nvPr/>
        </p:nvSpPr>
        <p:spPr>
          <a:xfrm>
            <a:off x="3042047" y="4661297"/>
            <a:ext cx="1166812" cy="541734"/>
          </a:xfrm>
          <a:prstGeom prst="roundRect">
            <a:avLst/>
          </a:prstGeom>
          <a:solidFill>
            <a:srgbClr val="DCEEFB"/>
          </a:solidFill>
          <a:ln w="11311">
            <a:solidFill>
              <a:srgbClr val="005A9C"/>
            </a:solidFill>
          </a:ln>
        </p:spPr>
        <p:txBody>
          <a:bodyPr wrap="none" anchor="ctr" lIns="595312" tIns="125016" rIns="35719" bIns="125016">
            <a:noAutofit/>
          </a:bodyPr>
          <a:lstStyle/>
          <a:p>
            <a:pPr algn="l"/>
            <a:r>
              <a:rPr lang="en-US" sz="984" b="1" i="0">
                <a:solidFill>
                  <a:srgbClr val="073B60"/>
                </a:solidFill>
                <a:latin typeface="Arial Narrow"/>
              </a:rPr>
              <a:t>Surface</a:t>
            </a:r>
            <a:endParaRPr lang="en-US"/>
          </a:p>
          <a:p>
            <a:pPr algn="l"/>
            <a:r>
              <a:rPr lang="en-US" sz="984" b="1" i="0">
                <a:solidFill>
                  <a:srgbClr val="073B60"/>
                </a:solidFill>
                <a:latin typeface="Arial Narrow"/>
              </a:rPr>
              <a:t>mapping</a:t>
            </a:r>
            <a:endParaRPr lang="en-US"/>
          </a:p>
        </p:txBody>
      </p:sp>
      <p:sp>
        <p:nvSpPr>
          <p:cNvPr id="18" name="pptx-slide1-shape-18" descr="uf:canonical_id=exposure;uf:object_type=text;uf:representation=NATIVE_TEXT;uf:text_fit=PASS;uf:text_rotation=0"/>
          <p:cNvSpPr/>
          <p:nvPr/>
        </p:nvSpPr>
        <p:spPr>
          <a:xfrm>
            <a:off x="6423422" y="4643438"/>
            <a:ext cx="1190625" cy="529828"/>
          </a:xfrm>
          <a:prstGeom prst="roundRect">
            <a:avLst/>
          </a:prstGeom>
          <a:solidFill>
            <a:srgbClr val="DCEEFB"/>
          </a:solidFill>
          <a:ln w="11311">
            <a:solidFill>
              <a:srgbClr val="005A9C"/>
            </a:solidFill>
          </a:ln>
        </p:spPr>
        <p:txBody>
          <a:bodyPr wrap="none" anchor="ctr" lIns="511969" tIns="125016" rIns="47625" bIns="130969">
            <a:noAutofit/>
          </a:bodyPr>
          <a:lstStyle/>
          <a:p>
            <a:pPr algn="l"/>
            <a:r>
              <a:rPr lang="en-US" sz="984" b="1" i="0">
                <a:solidFill>
                  <a:srgbClr val="073B60"/>
                </a:solidFill>
                <a:latin typeface="Arial Narrow"/>
              </a:rPr>
              <a:t>Exposure</a:t>
            </a:r>
            <a:endParaRPr lang="en-US"/>
          </a:p>
          <a:p>
            <a:pPr algn="l"/>
            <a:r>
              <a:rPr lang="en-US" sz="984" b="1" i="0">
                <a:solidFill>
                  <a:srgbClr val="073B60"/>
                </a:solidFill>
                <a:latin typeface="Arial Narrow"/>
              </a:rPr>
              <a:t>assessment</a:t>
            </a:r>
            <a:endParaRPr lang="en-US"/>
          </a:p>
        </p:txBody>
      </p:sp>
      <p:sp>
        <p:nvSpPr>
          <p:cNvPr id="19" name="pptx-slide1-shape-19" descr="uf:canonical_id=severity;uf:object_type=text;uf:representation=NATIVE_TEXT;uf:text_fit=PASS;uf:text_rotation=0"/>
          <p:cNvSpPr/>
          <p:nvPr/>
        </p:nvSpPr>
        <p:spPr>
          <a:xfrm>
            <a:off x="6423422" y="3970734"/>
            <a:ext cx="1190625" cy="529828"/>
          </a:xfrm>
          <a:prstGeom prst="roundRect">
            <a:avLst/>
          </a:prstGeom>
          <a:solidFill>
            <a:srgbClr val="DCEEFB"/>
          </a:solidFill>
          <a:ln w="11311">
            <a:solidFill>
              <a:srgbClr val="005A9C"/>
            </a:solidFill>
          </a:ln>
        </p:spPr>
        <p:txBody>
          <a:bodyPr wrap="none" anchor="ctr" lIns="511969" tIns="113109" rIns="47625" bIns="136922">
            <a:noAutofit/>
          </a:bodyPr>
          <a:lstStyle/>
          <a:p>
            <a:pPr algn="l"/>
            <a:r>
              <a:rPr lang="en-US" sz="984" b="1" i="0">
                <a:solidFill>
                  <a:srgbClr val="073B60"/>
                </a:solidFill>
                <a:latin typeface="Arial Narrow"/>
              </a:rPr>
              <a:t>Severity</a:t>
            </a:r>
            <a:endParaRPr lang="en-US"/>
          </a:p>
          <a:p>
            <a:pPr algn="l"/>
            <a:r>
              <a:rPr lang="en-US" sz="984" b="1" i="0">
                <a:solidFill>
                  <a:srgbClr val="073B60"/>
                </a:solidFill>
                <a:latin typeface="Arial Narrow"/>
              </a:rPr>
              <a:t>estimation</a:t>
            </a:r>
            <a:endParaRPr lang="en-US"/>
          </a:p>
        </p:txBody>
      </p:sp>
      <p:sp>
        <p:nvSpPr>
          <p:cNvPr id="20" name="pptx-slide1-shape-20" descr="uf:canonical_id=footer;uf:object_type=text;uf:representation=NATIVE_TEXT;uf:text_fit=PASS;uf:text_rotation=0"/>
          <p:cNvSpPr txBox="1"/>
          <p:nvPr/>
        </p:nvSpPr>
        <p:spPr>
          <a:xfrm>
            <a:off x="6393656" y="5649516"/>
            <a:ext cx="2571750" cy="148828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en-US" sz="844" b="0" i="0">
                <a:solidFill>
                  <a:srgbClr val="4D5561"/>
                </a:solidFill>
                <a:latin typeface="Arial Narrow"/>
              </a:rPr>
              <a:t>Synthetic / illustrative — not a validated inspection system</a:t>
            </a:r>
            <a:endParaRPr lang="en-US"/>
          </a:p>
        </p:txBody>
      </p:sp>
      <p:sp>
        <p:nvSpPr>
          <p:cNvPr id="21" name="pptx-slide1-shape-21" descr="uf:canonical_id=parallel_heading;uf:object_type=text;uf:representation=NATIVE_TEXT;uf:text_fit=PASS;uf:text_rotation=0"/>
          <p:cNvSpPr txBox="1"/>
          <p:nvPr/>
        </p:nvSpPr>
        <p:spPr>
          <a:xfrm>
            <a:off x="2970609" y="3702844"/>
            <a:ext cx="1262062" cy="190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en-US" sz="1219" b="1" i="0">
                <a:solidFill>
                  <a:srgbClr val="065C99"/>
                </a:solidFill>
                <a:latin typeface="Arial Narrow"/>
              </a:rPr>
              <a:t>Parallel analysis</a:t>
            </a:r>
            <a:endParaRPr lang="en-US"/>
          </a:p>
        </p:txBody>
      </p:sp>
      <p:sp>
        <p:nvSpPr>
          <p:cNvPr id="22" name="pptx-slide1-shape-22" descr="uf:canonical_id=fusion_heading;uf:object_type=text;uf:representation=NATIVE_TEXT;uf:text_fit=PASS;uf:text_rotation=0"/>
          <p:cNvSpPr txBox="1"/>
          <p:nvPr/>
        </p:nvSpPr>
        <p:spPr>
          <a:xfrm>
            <a:off x="4905375" y="3702844"/>
            <a:ext cx="1160859" cy="190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en-US" sz="1219" b="1" i="0">
                <a:solidFill>
                  <a:srgbClr val="065C99"/>
                </a:solidFill>
                <a:latin typeface="Arial Narrow"/>
              </a:rPr>
              <a:t>Evidence fusion</a:t>
            </a:r>
            <a:endParaRPr lang="en-US"/>
          </a:p>
        </p:txBody>
      </p:sp>
      <p:sp>
        <p:nvSpPr>
          <p:cNvPr id="23" name="pptx-slide1-shape-23" descr="uf:canonical_id=assessment_heading;uf:object_type=text;uf:representation=NATIVE_TEXT;uf:text_fit=PASS;uf:text_rotation=0"/>
          <p:cNvSpPr txBox="1"/>
          <p:nvPr/>
        </p:nvSpPr>
        <p:spPr>
          <a:xfrm>
            <a:off x="7209234" y="3702844"/>
            <a:ext cx="970359" cy="190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en-US" sz="1219" b="1" i="0">
                <a:solidFill>
                  <a:srgbClr val="065C99"/>
                </a:solidFill>
                <a:latin typeface="Arial Narrow"/>
              </a:rPr>
              <a:t>Assessment</a:t>
            </a:r>
            <a:endParaRPr lang="en-US"/>
          </a:p>
        </p:txBody>
      </p:sp>
      <p:sp>
        <p:nvSpPr>
          <p:cNvPr id="24" name="pptx-slide1-shape-24" descr="uf:canonical_id=acquisition_heading;uf:object_type=text;uf:representation=NATIVE_TEXT;uf:text_fit=PASS;uf:text_rotation=0"/>
          <p:cNvSpPr txBox="1"/>
          <p:nvPr/>
        </p:nvSpPr>
        <p:spPr>
          <a:xfrm>
            <a:off x="892969" y="3702844"/>
            <a:ext cx="928688" cy="190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en-US" sz="1219" b="1" i="0">
                <a:solidFill>
                  <a:srgbClr val="065C99"/>
                </a:solidFill>
                <a:latin typeface="Arial Narrow"/>
              </a:rPr>
              <a:t>Acquisition</a:t>
            </a:r>
            <a:endParaRPr lang="en-US"/>
          </a:p>
        </p:txBody>
      </p:sp>
      <p:sp>
        <p:nvSpPr>
          <p:cNvPr id="25" name="pptx-slide1-shape-25" descr="uf:canonical_id=legend_flow;uf:object_type=text;uf:representation=NATIVE_TEXT;uf:text_fit=PASS;uf:text_rotation=0"/>
          <p:cNvSpPr txBox="1"/>
          <p:nvPr/>
        </p:nvSpPr>
        <p:spPr>
          <a:xfrm>
            <a:off x="839391" y="5637609"/>
            <a:ext cx="851297" cy="166688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938" b="0" i="0">
                <a:solidFill>
                  <a:srgbClr val="173E60"/>
                </a:solidFill>
                <a:latin typeface="Arial Narrow"/>
              </a:rPr>
              <a:t>Information flow</a:t>
            </a:r>
            <a:endParaRPr lang="en-US"/>
          </a:p>
        </p:txBody>
      </p:sp>
      <p:sp>
        <p:nvSpPr>
          <p:cNvPr id="26" name="pptx-slide1-shape-26" descr="uf:canonical_id=human_review;uf:object_type=text;uf:representation=NATIVE_TEXT;uf:text_fit=PASS;uf:text_rotation=0"/>
          <p:cNvSpPr txBox="1"/>
          <p:nvPr/>
        </p:nvSpPr>
        <p:spPr>
          <a:xfrm>
            <a:off x="7983141" y="4941094"/>
            <a:ext cx="964406" cy="142875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en-US" sz="797" b="0" i="0">
                <a:solidFill>
                  <a:srgbClr val="34485D"/>
                </a:solidFill>
                <a:latin typeface="Arial Narrow"/>
              </a:rPr>
              <a:t>Human review required</a:t>
            </a:r>
            <a:endParaRPr lang="en-US"/>
          </a:p>
        </p:txBody>
      </p:sp>
      <p:sp>
        <p:nvSpPr>
          <p:cNvPr id="27" name="pptx-slide1-shape-27" descr="uf:canonical_id=legend_step;uf:object_type=text;uf:representation=NATIVE_TEXT;uf:text_fit=PASS;uf:text_rotation=0"/>
          <p:cNvSpPr txBox="1"/>
          <p:nvPr/>
        </p:nvSpPr>
        <p:spPr>
          <a:xfrm>
            <a:off x="2476500" y="5637609"/>
            <a:ext cx="797719" cy="166688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938" b="0" i="0">
                <a:solidFill>
                  <a:srgbClr val="173E60"/>
                </a:solidFill>
                <a:latin typeface="Arial Narrow"/>
              </a:rPr>
              <a:t>Analysis step</a:t>
            </a:r>
            <a:endParaRPr lang="en-US"/>
          </a:p>
        </p:txBody>
      </p:sp>
      <p:pic>
        <p:nvPicPr>
          <p:cNvPr id="28" name="pptx-slide1-shape-28" descr="uf:asset_id=asset-inspection_context_composite;uf:canonical_id=inspection_context_composite;uf:object_type=picture;uf:representation=EXACT_RASTER_ASSET;uf:source_hash=sha256:ecf6bb7b6cead243d6aa16f469c76c892137b7ee2a8168fd87079b38cef3a8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" y="654844"/>
            <a:ext cx="8703469" cy="2500312"/>
          </a:xfrm>
          <a:prstGeom prst="rect">
            <a:avLst/>
          </a:prstGeom>
        </p:spPr>
      </p:pic>
      <p:pic>
        <p:nvPicPr>
          <p:cNvPr id="29" name="pptx-slide1-shape-29" descr="uf:asset_id=asset-surface_icon;uf:canonical_id=surface_icon;uf:object_type=picture;uf:representation=EXACT_RASTER_ASSET;uf:source_hash=sha256:a4360e4761fc655f8bf42d7e9731cc7abfed46815ad3cc3afd1990507aba2bc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4804172"/>
            <a:ext cx="440531" cy="297656"/>
          </a:xfrm>
          <a:prstGeom prst="rect">
            <a:avLst/>
          </a:prstGeom>
        </p:spPr>
      </p:pic>
      <p:pic>
        <p:nvPicPr>
          <p:cNvPr id="30" name="pptx-slide1-shape-30" descr="uf:asset_id=asset-exposure_icon;uf:canonical_id=exposure_icon;uf:object_type=picture;uf:representation=EXACT_RASTER_ASSET;uf:source_hash=sha256:8067b5a8f031d1db3c8e184f142f0aa4dbc11cbe399087d9b5cdbe73b70f59a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484" y="4714875"/>
            <a:ext cx="321469" cy="381000"/>
          </a:xfrm>
          <a:prstGeom prst="rect">
            <a:avLst/>
          </a:prstGeom>
        </p:spPr>
      </p:pic>
      <p:pic>
        <p:nvPicPr>
          <p:cNvPr id="31" name="pptx-slide1-shape-31" descr="uf:asset_id=asset-risk_icon;uf:canonical_id=risk_icon;uf:object_type=picture;uf:representation=EXACT_RASTER_ASSET;uf:source_hash=sha256:a83d952d63a6b8e6517cfcb29466b8ec9c25c35e189becb092c15f9bea6c7d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6281" y="4256484"/>
            <a:ext cx="273844" cy="351234"/>
          </a:xfrm>
          <a:prstGeom prst="rect">
            <a:avLst/>
          </a:prstGeom>
        </p:spPr>
      </p:pic>
      <p:pic>
        <p:nvPicPr>
          <p:cNvPr id="32" name="pptx-slide1-shape-32" descr="uf:asset_id=asset-quality_icon;uf:canonical_id=quality_icon;uf:object_type=picture;uf:representation=EXACT_RASTER_ASSET;uf:source_hash=sha256:ead9976ce76f8771f6aac48a0c9dd4d572de719201582065acc810d0604168d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3094" y="4232672"/>
            <a:ext cx="309562" cy="303609"/>
          </a:xfrm>
          <a:prstGeom prst="rect">
            <a:avLst/>
          </a:prstGeom>
        </p:spPr>
      </p:pic>
      <p:pic>
        <p:nvPicPr>
          <p:cNvPr id="33" name="pptx-slide1-shape-33" descr="uf:asset_id=asset-legend_arrow;uf:canonical_id=legend_arrow;uf:object_type=picture;uf:representation=EXACT_RASTER_ASSET;uf:source_hash=sha256:1497dd08d72aa4a05d084404e6bc110d8d143e333b97fea5623a083da70565b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25" y="5631656"/>
            <a:ext cx="535781" cy="148828"/>
          </a:xfrm>
          <a:prstGeom prst="rect">
            <a:avLst/>
          </a:prstGeom>
        </p:spPr>
      </p:pic>
      <p:pic>
        <p:nvPicPr>
          <p:cNvPr id="34" name="pptx-slide1-shape-34" descr="uf:asset_id=asset-severity_icon;uf:canonical_id=severity_icon;uf:object_type=picture;uf:representation=EXACT_RASTER_ASSET;uf:source_hash=sha256:37a25b2b613e5548e57e9108824ca9fbe3809c6c06bbc93aa64fd070d81fcac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4391" y="4089797"/>
            <a:ext cx="279797" cy="279797"/>
          </a:xfrm>
          <a:prstGeom prst="rect">
            <a:avLst/>
          </a:prstGeom>
        </p:spPr>
      </p:pic>
      <p:pic>
        <p:nvPicPr>
          <p:cNvPr id="35" name="pptx-slide1-shape-35" descr="uf:asset_id=asset-crack_icon;uf:canonical_id=crack_icon;uf:object_type=picture;uf:representation=EXACT_RASTER_ASSET;uf:source_hash=sha256:4e7537877b100eae049b1d6cb88f48a56f703d33df846fa08f9b2c08d21e23b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3016" y="4065984"/>
            <a:ext cx="267891" cy="291703"/>
          </a:xfrm>
          <a:prstGeom prst="rect">
            <a:avLst/>
          </a:prstGeom>
        </p:spPr>
      </p:pic>
      <p:pic>
        <p:nvPicPr>
          <p:cNvPr id="36" name="pptx-slide1-shape-36" descr="uf:asset_id=asset-capture_icon;uf:canonical_id=capture_icon;uf:object_type=picture;uf:representation=EXACT_RASTER_ASSET;uf:source_hash=sha256:830e97c9abc59fd3eb6905bc46c18cf30b9e055f3ad7cb8cde051a093297a19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19" y="4256484"/>
            <a:ext cx="297656" cy="255984"/>
          </a:xfrm>
          <a:prstGeom prst="rect">
            <a:avLst/>
          </a:prstGeom>
        </p:spPr>
      </p:pic>
      <p:pic>
        <p:nvPicPr>
          <p:cNvPr id="37" name="pptx-slide1-shape-37" descr="uf:asset_id=asset-fusion_icon;uf:canonical_id=fusion_icon;uf:object_type=picture;uf:representation=EXACT_RASTER_ASSET;uf:source_hash=sha256:3efc99b102c7c36f3da31d34d8c73599d90c2d2979aaac5ca4a8adf26f1572e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0656" y="4262438"/>
            <a:ext cx="255984" cy="273844"/>
          </a:xfrm>
          <a:prstGeom prst="rect">
            <a:avLst/>
          </a:prstGeom>
        </p:spPr>
      </p:pic>
      <p:cxnSp>
        <p:nvCxnSpPr>
          <p:cNvPr id="38" name="pptx-slide1-connector-38" descr="uf:attachment=ATTACHED_VERIFIED;uf:canonical_id=capture_to_quality;uf:direction=SOURCE_TO_TARGET;uf:object_type=relation;uf:relation_type=FLOW;uf:representation=NATIVE_RELATION;uf:route_source=CANONICAL_ROUTE_POINTS;uf:route_type=STRAIGHT;uf:source_id=capture;uf:target_id=quality"/>
          <p:cNvCxnSpPr>
            <a:stCxn id="13" idx="3"/>
            <a:endCxn id="12" idx="1"/>
          </p:cNvCxnSpPr>
          <p:nvPr/>
        </p:nvCxnSpPr>
        <p:spPr>
          <a:xfrm flipV="1">
            <a:off x="1268016" y="4530328"/>
            <a:ext cx="250031" cy="5953"/>
          </a:xfrm>
          <a:prstGeom prst="line">
            <a:avLst/>
          </a:prstGeom>
          <a:ln w="26789">
            <a:solidFill>
              <a:srgbClr val="096BA8"/>
            </a:solidFill>
            <a:headEnd type="none"/>
            <a:tailEnd type="triangle"/>
          </a:ln>
        </p:spPr>
      </p:cxnSp>
      <p:cxnSp>
        <p:nvCxnSpPr>
          <p:cNvPr id="39" name="pptx-slide1-connector-39" descr="uf:attachment=ATTACHED_VERIFIED;uf:canonical_id=crack_to_fusion;uf:direction=SOURCE_TO_TARGET;uf:object_type=relation;uf:relation_type=FLOW;uf:representation=NATIVE_RELATION;uf:route_source=CANONICAL_ROUTE_POINTS;uf:route_type=ELBOW;uf:source_id=crack;uf:target_id=fusion"/>
          <p:cNvCxnSpPr>
            <a:stCxn id="16" idx="3"/>
            <a:endCxn id="10" idx="1"/>
          </p:cNvCxnSpPr>
          <p:nvPr/>
        </p:nvCxnSpPr>
        <p:spPr>
          <a:xfrm>
            <a:off x="4208859" y="4214812"/>
            <a:ext cx="559594" cy="315516"/>
          </a:xfrm>
          <a:prstGeom prst="bentConnector3">
            <a:avLst>
              <a:gd name="adj1" fmla="val 50000"/>
            </a:avLst>
          </a:prstGeom>
          <a:ln w="26789">
            <a:solidFill>
              <a:srgbClr val="096BA8"/>
            </a:solidFill>
            <a:headEnd type="none"/>
            <a:tailEnd type="triangle"/>
          </a:ln>
        </p:spPr>
      </p:cxnSp>
      <p:cxnSp>
        <p:nvCxnSpPr>
          <p:cNvPr id="40" name="pptx-slide1-connector-40" descr="uf:attachment=ATTACHED_VERIFIED;uf:canonical_id=exposure_to_risk;uf:direction=SOURCE_TO_TARGET;uf:object_type=relation;uf:relation_type=FLOW;uf:representation=NATIVE_RELATION;uf:route_source=CANONICAL_ROUTE_POINTS;uf:route_type=ELBOW;uf:source_id=exposure;uf:target_id=risk"/>
          <p:cNvCxnSpPr>
            <a:stCxn id="18" idx="3"/>
            <a:endCxn id="15" idx="1"/>
          </p:cNvCxnSpPr>
          <p:nvPr/>
        </p:nvCxnSpPr>
        <p:spPr>
          <a:xfrm flipV="1">
            <a:off x="7614047" y="4530328"/>
            <a:ext cx="404812" cy="378023"/>
          </a:xfrm>
          <a:prstGeom prst="bentConnector3">
            <a:avLst>
              <a:gd name="adj1" fmla="val 50000"/>
            </a:avLst>
          </a:prstGeom>
          <a:ln w="26789">
            <a:solidFill>
              <a:srgbClr val="096BA8"/>
            </a:solidFill>
            <a:headEnd type="none"/>
            <a:tailEnd type="triangle"/>
          </a:ln>
        </p:spPr>
      </p:cxnSp>
      <p:cxnSp>
        <p:nvCxnSpPr>
          <p:cNvPr id="41" name="pptx-slide1-connector-41" descr="uf:attachment=ATTACHED_VERIFIED;uf:canonical_id=fusion_to_exposure;uf:direction=SOURCE_TO_TARGET;uf:object_type=relation;uf:relation_type=FLOW;uf:representation=NATIVE_RELATION;uf:route_source=CANONICAL_ROUTE_POINTS;uf:route_type=ELBOW;uf:source_id=fusion;uf:target_id=exposure"/>
          <p:cNvCxnSpPr>
            <a:stCxn id="10" idx="3"/>
            <a:endCxn id="18" idx="1"/>
          </p:cNvCxnSpPr>
          <p:nvPr/>
        </p:nvCxnSpPr>
        <p:spPr>
          <a:xfrm>
            <a:off x="5982891" y="4530328"/>
            <a:ext cx="440531" cy="378023"/>
          </a:xfrm>
          <a:prstGeom prst="bentConnector3">
            <a:avLst>
              <a:gd name="adj1" fmla="val 50000"/>
            </a:avLst>
          </a:prstGeom>
          <a:ln w="26789">
            <a:solidFill>
              <a:srgbClr val="096BA8"/>
            </a:solidFill>
            <a:headEnd type="none"/>
            <a:tailEnd type="triangle"/>
          </a:ln>
        </p:spPr>
      </p:cxnSp>
      <p:cxnSp>
        <p:nvCxnSpPr>
          <p:cNvPr id="42" name="pptx-slide1-connector-42" descr="uf:attachment=ATTACHED_VERIFIED;uf:canonical_id=fusion_to_severity;uf:direction=SOURCE_TO_TARGET;uf:object_type=relation;uf:relation_type=FLOW;uf:representation=NATIVE_RELATION;uf:route_source=CANONICAL_ROUTE_POINTS;uf:route_type=ELBOW;uf:source_id=fusion;uf:target_id=severity"/>
          <p:cNvCxnSpPr>
            <a:stCxn id="10" idx="3"/>
            <a:endCxn id="19" idx="1"/>
          </p:cNvCxnSpPr>
          <p:nvPr/>
        </p:nvCxnSpPr>
        <p:spPr>
          <a:xfrm flipV="1">
            <a:off x="5982891" y="4235648"/>
            <a:ext cx="440531" cy="294680"/>
          </a:xfrm>
          <a:prstGeom prst="bentConnector3">
            <a:avLst>
              <a:gd name="adj1" fmla="val 50000"/>
            </a:avLst>
          </a:prstGeom>
          <a:ln w="26789">
            <a:solidFill>
              <a:srgbClr val="096BA8"/>
            </a:solidFill>
            <a:headEnd type="none"/>
            <a:tailEnd type="triangle"/>
          </a:ln>
        </p:spPr>
      </p:cxnSp>
      <p:cxnSp>
        <p:nvCxnSpPr>
          <p:cNvPr id="43" name="pptx-slide1-connector-43" descr="uf:attachment=ATTACHED_VERIFIED;uf:canonical_id=quality_to_crack;uf:direction=SOURCE_TO_TARGET;uf:object_type=relation;uf:relation_type=FLOW;uf:representation=NATIVE_RELATION;uf:route_source=CANONICAL_ROUTE_POINTS;uf:route_type=ELBOW;uf:source_id=quality;uf:target_id=crack"/>
          <p:cNvCxnSpPr>
            <a:stCxn id="12" idx="3"/>
            <a:endCxn id="16" idx="1"/>
          </p:cNvCxnSpPr>
          <p:nvPr/>
        </p:nvCxnSpPr>
        <p:spPr>
          <a:xfrm flipV="1">
            <a:off x="2565797" y="4214812"/>
            <a:ext cx="476250" cy="315516"/>
          </a:xfrm>
          <a:prstGeom prst="bentConnector3">
            <a:avLst>
              <a:gd name="adj1" fmla="val 48750"/>
            </a:avLst>
          </a:prstGeom>
          <a:ln w="26789">
            <a:solidFill>
              <a:srgbClr val="096BA8"/>
            </a:solidFill>
            <a:headEnd type="none"/>
            <a:tailEnd type="triangle"/>
          </a:ln>
        </p:spPr>
      </p:cxnSp>
      <p:cxnSp>
        <p:nvCxnSpPr>
          <p:cNvPr id="44" name="pptx-slide1-connector-44" descr="uf:attachment=ATTACHED_VERIFIED;uf:canonical_id=quality_to_surface;uf:direction=SOURCE_TO_TARGET;uf:object_type=relation;uf:relation_type=FLOW;uf:representation=NATIVE_RELATION;uf:route_source=CANONICAL_ROUTE_POINTS;uf:route_type=ELBOW;uf:source_id=quality;uf:target_id=surface"/>
          <p:cNvCxnSpPr>
            <a:stCxn id="12" idx="3"/>
            <a:endCxn id="17" idx="1"/>
          </p:cNvCxnSpPr>
          <p:nvPr/>
        </p:nvCxnSpPr>
        <p:spPr>
          <a:xfrm>
            <a:off x="2565797" y="4530328"/>
            <a:ext cx="476250" cy="401836"/>
          </a:xfrm>
          <a:prstGeom prst="bentConnector3">
            <a:avLst>
              <a:gd name="adj1" fmla="val 48750"/>
            </a:avLst>
          </a:prstGeom>
          <a:ln w="26789">
            <a:solidFill>
              <a:srgbClr val="096BA8"/>
            </a:solidFill>
            <a:headEnd type="none"/>
            <a:tailEnd type="triangle"/>
          </a:ln>
        </p:spPr>
      </p:cxnSp>
      <p:cxnSp>
        <p:nvCxnSpPr>
          <p:cNvPr id="45" name="pptx-slide1-connector-45" descr="uf:attachment=ATTACHED_VERIFIED;uf:canonical_id=severity_to_risk;uf:direction=SOURCE_TO_TARGET;uf:object_type=relation;uf:relation_type=FLOW;uf:representation=NATIVE_RELATION;uf:route_source=CANONICAL_ROUTE_POINTS;uf:route_type=ELBOW;uf:source_id=severity;uf:target_id=risk"/>
          <p:cNvCxnSpPr>
            <a:stCxn id="19" idx="3"/>
            <a:endCxn id="15" idx="1"/>
          </p:cNvCxnSpPr>
          <p:nvPr/>
        </p:nvCxnSpPr>
        <p:spPr>
          <a:xfrm>
            <a:off x="7614047" y="4235648"/>
            <a:ext cx="404812" cy="294680"/>
          </a:xfrm>
          <a:prstGeom prst="bentConnector3">
            <a:avLst>
              <a:gd name="adj1" fmla="val 50000"/>
            </a:avLst>
          </a:prstGeom>
          <a:ln w="26789">
            <a:solidFill>
              <a:srgbClr val="096BA8"/>
            </a:solidFill>
            <a:headEnd type="none"/>
            <a:tailEnd type="triangle"/>
          </a:ln>
        </p:spPr>
      </p:cxnSp>
      <p:cxnSp>
        <p:nvCxnSpPr>
          <p:cNvPr id="46" name="pptx-slide1-connector-46" descr="uf:attachment=ATTACHED_VERIFIED;uf:canonical_id=surface_to_fusion;uf:direction=SOURCE_TO_TARGET;uf:object_type=relation;uf:relation_type=FLOW;uf:representation=NATIVE_RELATION;uf:route_source=CANONICAL_ROUTE_POINTS;uf:route_type=ELBOW;uf:source_id=surface;uf:target_id=fusion"/>
          <p:cNvCxnSpPr>
            <a:stCxn id="17" idx="3"/>
            <a:endCxn id="10" idx="1"/>
          </p:cNvCxnSpPr>
          <p:nvPr/>
        </p:nvCxnSpPr>
        <p:spPr>
          <a:xfrm flipV="1">
            <a:off x="4208859" y="4530328"/>
            <a:ext cx="559594" cy="401836"/>
          </a:xfrm>
          <a:prstGeom prst="bentConnector3">
            <a:avLst>
              <a:gd name="adj1" fmla="val 50000"/>
            </a:avLst>
          </a:prstGeom>
          <a:ln w="26789">
            <a:solidFill>
              <a:srgbClr val="096BA8"/>
            </a:solidFill>
            <a:headEnd type="none"/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Generated neutral theme">
  <a:themeElements>
    <a:clrScheme name="Neutral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345678"/>
      </a:accent1>
      <a:accent2>
        <a:srgbClr val="567834"/>
      </a:accent2>
      <a:accent3>
        <a:srgbClr val="783456"/>
      </a:accent3>
      <a:accent4>
        <a:srgbClr val="456789"/>
      </a:accent4>
      <a:accent5>
        <a:srgbClr val="678945"/>
      </a:accent5>
      <a:accent6>
        <a:srgbClr val="894567"/>
      </a:accent6>
      <a:hlink>
        <a:srgbClr val="0000FF"/>
      </a:hlink>
      <a:folHlink>
        <a:srgbClr val="800080"/>
      </a:folHlink>
    </a:clrScheme>
    <a:fontScheme name="User installed font references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Minimal standard style matri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