
<file path=[Content_Types].xml><?xml version="1.0" encoding="utf-8"?>
<ns0:Types xmlns:ns0="http://schemas.openxmlformats.org/package/2006/content-types">
  <ns0:Default Extension="rels" ContentType="application/vnd.openxmlformats-package.relationships+xml"/>
  <ns0:Default Extension="xml" ContentType="application/xml"/>
  <ns0:Default Extension="png" ContentType="image/png"/>
  <ns0:Override PartName="/ppt/presentation.xml" ContentType="application/vnd.openxmlformats-officedocument.presentationml.presentation.main+xml"/>
  <ns0:Override PartName="/ppt/slides/slide1.xml" ContentType="application/vnd.openxmlformats-officedocument.presentationml.slide+xml"/>
  <ns0:Override PartName="/ppt/slideMasters/slideMaster1.xml" ContentType="application/vnd.openxmlformats-officedocument.presentationml.slideMaster+xml"/>
  <ns0:Override PartName="/ppt/slideLayouts/slideLayout1.xml" ContentType="application/vnd.openxmlformats-officedocument.presentationml.slideLayout+xml"/>
  <ns0:Override PartName="/ppt/presProps.xml" ContentType="application/vnd.openxmlformats-officedocument.presentationml.presProps+xml"/>
  <ns0:Override PartName="/ppt/theme/theme1.xml" ContentType="application/vnd.openxmlformats-officedocument.theme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662057"/>
  <p:notesSz cx="6858000" cy="9144000"/>
</p:presentation>
</file>

<file path=ppt/presProps.xml><?xml version="1.0" encoding="utf-8"?>
<p:presentationPr xmlns:p="http://schemas.openxmlformats.org/presentationml/2006/main"/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presProps" Target="presProps.xml" /><ns0:Relationship Id="rId4" Type="http://schemas.openxmlformats.org/officeDocument/2006/relationships/theme" Target="theme/theme1.xml" /></ns0:Relationship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/ns0: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>
      <a:lvl1pPr>
        <a:defRPr sz="1800" kern="1200">
          <a:latin typeface="+mn-lt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00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slide1-shape-2" descr="uf:canonical_id=workflow_panel;uf:object_type=shape;uf:representation=NATIVE_SIMPLE_SHAPE;uf:shape=rect"/>
          <p:cNvSpPr/>
          <p:nvPr/>
        </p:nvSpPr>
        <p:spPr>
          <a:xfrm>
            <a:off x="261257" y="3239589"/>
            <a:ext cx="8621486" cy="2801983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D9E6EB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3" name="pptx-slide1-shape-3" descr="uf:canonical_id=footer_rule;uf:object_type=shape;uf:representation=NATIVE_SIMPLE_SHAPE;uf:shape=rect"/>
          <p:cNvSpPr/>
          <p:nvPr/>
        </p:nvSpPr>
        <p:spPr>
          <a:xfrm>
            <a:off x="261257" y="6152606"/>
            <a:ext cx="8621486" cy="9797"/>
          </a:xfrm>
          <a:prstGeom prst="rect">
            <a:avLst/>
          </a:prstGeom>
          <a:solidFill>
            <a:srgbClr val="DCE6EA">
              <a:alpha val="100000"/>
            </a:srgbClr>
          </a:solidFill>
          <a:ln w="0">
            <a:solidFill>
              <a:srgbClr val="000000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4" name="pptx-slide1-shape-4" descr="uf:canonical_id=top_rule;uf:object_type=shape;uf:representation=NATIVE_SIMPLE_SHAPE;uf:shape=rect"/>
          <p:cNvSpPr/>
          <p:nvPr/>
        </p:nvSpPr>
        <p:spPr>
          <a:xfrm>
            <a:off x="261257" y="672737"/>
            <a:ext cx="8621486" cy="9797"/>
          </a:xfrm>
          <a:prstGeom prst="rect">
            <a:avLst/>
          </a:prstGeom>
          <a:solidFill>
            <a:srgbClr val="3885A1">
              <a:alpha val="100000"/>
            </a:srgbClr>
          </a:solidFill>
          <a:ln w="0">
            <a:solidFill>
              <a:srgbClr val="000000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5" name="pptx-slide1-shape-5" descr="uf:canonical_id=native_swatch;uf:object_type=shape;uf:representation=NATIVE_SIMPLE_SHAPE;uf:shape=rect"/>
          <p:cNvSpPr/>
          <p:nvPr/>
        </p:nvSpPr>
        <p:spPr>
          <a:xfrm>
            <a:off x="274320" y="6276703"/>
            <a:ext cx="104503" cy="104503"/>
          </a:xfrm>
          <a:prstGeom prst="rect">
            <a:avLst/>
          </a:prstGeom>
          <a:solidFill>
            <a:srgbClr val="EAF2F6">
              <a:alpha val="100000"/>
            </a:srgbClr>
          </a:solidFill>
          <a:ln w="15240">
            <a:solidFill>
              <a:srgbClr val="4A91AB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6" name="pptx-slide1-shape-6" descr="uf:canonical_id=raster_swatch;uf:object_type=shape;uf:representation=NATIVE_SIMPLE_SHAPE;uf:shape=rect"/>
          <p:cNvSpPr/>
          <p:nvPr/>
        </p:nvSpPr>
        <p:spPr>
          <a:xfrm>
            <a:off x="2606040" y="6276703"/>
            <a:ext cx="104503" cy="104503"/>
          </a:xfrm>
          <a:prstGeom prst="rect">
            <a:avLst/>
          </a:prstGeom>
          <a:solidFill>
            <a:srgbClr val="D7DCDE">
              <a:alpha val="100000"/>
            </a:srgbClr>
          </a:solidFill>
          <a:ln w="15240">
            <a:solidFill>
              <a:srgbClr val="8B9BA2">
                <a:alpha val="100000"/>
              </a:srgbClr>
            </a:solidFill>
          </a:ln>
        </p:spPr>
        <p:txBody>
          <a:bodyPr/>
          <a:lstStyle/>
          <a:p/>
        </p:txBody>
      </p:sp>
      <p:sp>
        <p:nvSpPr>
          <p:cNvPr id="7" name="pptx-slide1-shape-7" descr="uf:canonical_id=relation_swatch;uf:object_type=shape;uf:representation=NATIVE_SIMPLE_SHAPE;uf:shape=rect"/>
          <p:cNvSpPr/>
          <p:nvPr/>
        </p:nvSpPr>
        <p:spPr>
          <a:xfrm>
            <a:off x="5394960" y="6322423"/>
            <a:ext cx="156754" cy="13063"/>
          </a:xfrm>
          <a:prstGeom prst="rect">
            <a:avLst/>
          </a:prstGeom>
          <a:solidFill>
            <a:srgbClr val="126787">
              <a:alpha val="100000"/>
            </a:srgbClr>
          </a:solidFill>
          <a:ln w="0">
            <a:solidFill>
              <a:srgbClr val="000000">
                <a:alpha val="100000"/>
              </a:srgbClr>
            </a:solidFill>
          </a:ln>
        </p:spPr>
        <p:txBody>
          <a:bodyPr/>
          <a:lstStyle/>
          <a:p/>
        </p:txBody>
      </p:sp>
      <p:pic>
        <p:nvPicPr>
          <p:cNvPr id="8" name="pptx-slide1-shape-8" descr="uf:asset_id=asset-risk_chart;uf:canonical_id=risk_chart;uf:object_type=picture;uf:representation=EXACT_RASTER_ASSET;uf:source_hash=sha256:91c92c723b996b86e627211258956b9dbb057d721aa83c31f9fc85841f4f382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1754" y="1129937"/>
            <a:ext cx="3017520" cy="1554480"/>
          </a:xfrm>
          <a:prstGeom prst="rect">
            <a:avLst/>
          </a:prstGeom>
        </p:spPr>
      </p:pic>
      <p:pic>
        <p:nvPicPr>
          <p:cNvPr id="9" name="pptx-slide1-shape-9" descr="uf:asset_id=asset-surface_texture;uf:canonical_id=surface_texture;uf:object_type=picture;uf:representation=EXACT_RASTER_ASSET;uf:source_hash=sha256:71e83f7191a4319a0360d0f72f0a2ed71a877ba155a44fa6f2336bb74aafede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926" y="1129937"/>
            <a:ext cx="2756263" cy="1554480"/>
          </a:xfrm>
          <a:prstGeom prst="rect">
            <a:avLst/>
          </a:prstGeom>
        </p:spPr>
      </p:pic>
      <p:pic>
        <p:nvPicPr>
          <p:cNvPr id="10" name="pptx-slide1-shape-10" descr="uf:asset_id=asset-survey_schematic;uf:canonical_id=survey_schematic;uf:object_type=picture;uf:representation=EXACT_RASTER_ASSET;uf:source_hash=sha256:eca0716511d6dea578092665301838a61ebfd389bfcaf85f77a821afe8f600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726" y="1129937"/>
            <a:ext cx="2625634" cy="1554480"/>
          </a:xfrm>
          <a:prstGeom prst="rect">
            <a:avLst/>
          </a:prstGeom>
        </p:spPr>
      </p:pic>
      <p:sp>
        <p:nvSpPr>
          <p:cNvPr id="11" name="pptx-slide1-shape-11" descr="uf:canonical_id=stage_iii;uf:object_type=text;uf:representation=NATIVE_TEXT;uf:text_fit=PASS;uf:text_rotation=0"/>
          <p:cNvSpPr/>
          <p:nvPr/>
        </p:nvSpPr>
        <p:spPr>
          <a:xfrm>
            <a:off x="5917474" y="3468189"/>
            <a:ext cx="2834640" cy="2272937"/>
          </a:xfrm>
          <a:prstGeom prst="rect">
            <a:avLst/>
          </a:prstGeom>
          <a:solidFill>
            <a:srgbClr val="F3F7F9"/>
          </a:solidFill>
          <a:ln w="9797">
            <a:solidFill>
              <a:srgbClr val="CEE1EA"/>
            </a:solidFill>
          </a:ln>
        </p:spPr>
        <p:txBody>
          <a:bodyPr wrap="none" anchor="ctr" lIns="78377" tIns="78377" rIns="78377" bIns="2050869">
            <a:noAutofit/>
          </a:bodyPr>
          <a:lstStyle/>
          <a:p>
            <a:pPr algn="l"/>
            <a:r>
              <a:rPr lang="en-US" sz="720" b="1" i="0">
                <a:solidFill>
                  <a:srgbClr val="006B91"/>
                </a:solidFill>
                <a:latin typeface="Arial"/>
              </a:rPr>
              <a:t>III Assessment &amp; reporting</a:t>
            </a:r>
            <a:endParaRPr lang="en-US"/>
          </a:p>
        </p:txBody>
      </p:sp>
      <p:sp>
        <p:nvSpPr>
          <p:cNvPr id="12" name="pptx-slide1-shape-12" descr="uf:canonical_id=stage_i;uf:object_type=text;uf:representation=NATIVE_TEXT;uf:text_fit=PASS;uf:text_rotation=0"/>
          <p:cNvSpPr/>
          <p:nvPr/>
        </p:nvSpPr>
        <p:spPr>
          <a:xfrm>
            <a:off x="378823" y="3468189"/>
            <a:ext cx="3122023" cy="1802674"/>
          </a:xfrm>
          <a:prstGeom prst="rect">
            <a:avLst/>
          </a:prstGeom>
          <a:solidFill>
            <a:srgbClr val="F3F7F9"/>
          </a:solidFill>
          <a:ln w="9797">
            <a:solidFill>
              <a:srgbClr val="CEE1EA"/>
            </a:solidFill>
          </a:ln>
        </p:spPr>
        <p:txBody>
          <a:bodyPr wrap="none" anchor="ctr" lIns="78377" tIns="78377" rIns="91440" bIns="1580606">
            <a:noAutofit/>
          </a:bodyPr>
          <a:lstStyle/>
          <a:p>
            <a:pPr algn="l"/>
            <a:r>
              <a:rPr lang="en-US" sz="720" b="1" i="0">
                <a:solidFill>
                  <a:srgbClr val="006B91"/>
                </a:solidFill>
                <a:latin typeface="Arial"/>
              </a:rPr>
              <a:t>I Acquisition &amp; quality</a:t>
            </a:r>
            <a:endParaRPr lang="en-US"/>
          </a:p>
        </p:txBody>
      </p:sp>
      <p:sp>
        <p:nvSpPr>
          <p:cNvPr id="13" name="pptx-slide1-shape-13" descr="uf:canonical_id=stage_ii;uf:object_type=text;uf:representation=NATIVE_TEXT;uf:text_fit=PASS;uf:text_rotation=0"/>
          <p:cNvSpPr/>
          <p:nvPr/>
        </p:nvSpPr>
        <p:spPr>
          <a:xfrm>
            <a:off x="3579223" y="3468189"/>
            <a:ext cx="2266406" cy="1802674"/>
          </a:xfrm>
          <a:prstGeom prst="rect">
            <a:avLst/>
          </a:prstGeom>
          <a:solidFill>
            <a:srgbClr val="F3F7F9"/>
          </a:solidFill>
          <a:ln w="9797">
            <a:solidFill>
              <a:srgbClr val="CEE1EA"/>
            </a:solidFill>
          </a:ln>
        </p:spPr>
        <p:txBody>
          <a:bodyPr wrap="none" anchor="ctr" lIns="78377" tIns="78377" rIns="78377" bIns="1580606">
            <a:noAutofit/>
          </a:bodyPr>
          <a:lstStyle/>
          <a:p>
            <a:pPr algn="l"/>
            <a:r>
              <a:rPr lang="en-US" sz="720" b="1" i="0">
                <a:solidFill>
                  <a:srgbClr val="006B91"/>
                </a:solidFill>
                <a:latin typeface="Arial"/>
              </a:rPr>
              <a:t>II Evidence preparation</a:t>
            </a:r>
            <a:endParaRPr lang="en-US"/>
          </a:p>
        </p:txBody>
      </p:sp>
      <p:sp>
        <p:nvSpPr>
          <p:cNvPr id="14" name="pptx-slide1-shape-14" descr="uf:canonical_id=title;uf:object_type=text;uf:representation=NATIVE_TEXT;uf:text_fit=PASS;uf:text_rotation=0"/>
          <p:cNvSpPr txBox="1"/>
          <p:nvPr/>
        </p:nvSpPr>
        <p:spPr>
          <a:xfrm>
            <a:off x="261257" y="111034"/>
            <a:ext cx="5094514" cy="437606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en-US" sz="1594" b="1" i="0">
                <a:solidFill>
                  <a:srgbClr val="096888"/>
                </a:solidFill>
                <a:latin typeface="Arial"/>
              </a:rPr>
              <a:t>UAV-Based Structural Defect Inspection</a:t>
            </a:r>
            <a:endParaRPr lang="en-US"/>
          </a:p>
          <a:p>
            <a:pPr algn="l"/>
            <a:r>
              <a:rPr lang="en-US" sz="1594" b="1" i="0">
                <a:solidFill>
                  <a:srgbClr val="096888"/>
                </a:solidFill>
                <a:latin typeface="Arial"/>
              </a:rPr>
              <a:t>and Risk Assessment</a:t>
            </a:r>
            <a:endParaRPr lang="en-US"/>
          </a:p>
        </p:txBody>
      </p:sp>
      <p:sp>
        <p:nvSpPr>
          <p:cNvPr id="15" name="pptx-slide1-shape-15" descr="uf:canonical_id=c_heading;uf:object_type=text;uf:representation=NATIVE_TEXT;uf:text_fit=PASS;uf:text_rotation=0"/>
          <p:cNvSpPr txBox="1"/>
          <p:nvPr/>
        </p:nvSpPr>
        <p:spPr>
          <a:xfrm>
            <a:off x="261257" y="2828109"/>
            <a:ext cx="8621486" cy="18288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en-US" sz="1131" b="1" i="0">
                <a:solidFill>
                  <a:srgbClr val="006B91"/>
                </a:solidFill>
                <a:latin typeface="Arial"/>
              </a:rPr>
              <a:t>C Inspection, evidence analysis and decision workflow</a:t>
            </a:r>
            <a:endParaRPr lang="en-US"/>
          </a:p>
        </p:txBody>
      </p:sp>
      <p:sp>
        <p:nvSpPr>
          <p:cNvPr id="16" name="pptx-slide1-shape-16" descr="uf:canonical_id=c_subtitle;uf:object_type=text;uf:representation=NATIVE_TEXT;uf:text_fit=PASS;uf:text_rotation=0"/>
          <p:cNvSpPr txBox="1"/>
          <p:nvPr/>
        </p:nvSpPr>
        <p:spPr>
          <a:xfrm>
            <a:off x="261257" y="3050177"/>
            <a:ext cx="8621486" cy="117566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en-US" sz="669" b="0" i="0">
                <a:solidFill>
                  <a:srgbClr val="537089"/>
                </a:solidFill>
                <a:latin typeface="Arial"/>
              </a:rPr>
              <a:t>Branching and fusion are conceptual. No real detection, measurement or risk model is claimed.</a:t>
            </a:r>
            <a:endParaRPr lang="en-US"/>
          </a:p>
        </p:txBody>
      </p:sp>
      <p:sp>
        <p:nvSpPr>
          <p:cNvPr id="17" name="pptx-slide1-shape-17" descr="uf:canonical_id=d_heading;uf:object_type=text;uf:representation=NATIVE_TEXT;uf:text_fit=PASS;uf:text_rotation=0"/>
          <p:cNvSpPr txBox="1"/>
          <p:nvPr/>
        </p:nvSpPr>
        <p:spPr>
          <a:xfrm>
            <a:off x="5878286" y="757646"/>
            <a:ext cx="3004457" cy="163286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en-US" sz="1080" b="1" i="0">
                <a:solidFill>
                  <a:srgbClr val="006B91"/>
                </a:solidFill>
                <a:latin typeface="Arial"/>
              </a:rPr>
              <a:t>D Illustrative risk distribution</a:t>
            </a:r>
            <a:endParaRPr lang="en-US"/>
          </a:p>
        </p:txBody>
      </p:sp>
      <p:sp>
        <p:nvSpPr>
          <p:cNvPr id="18" name="pptx-slide1-shape-18" descr="uf:canonical_id=b_heading;uf:object_type=text;uf:representation=NATIVE_TEXT;uf:text_fit=PASS;uf:text_rotation=0"/>
          <p:cNvSpPr txBox="1"/>
          <p:nvPr/>
        </p:nvSpPr>
        <p:spPr>
          <a:xfrm>
            <a:off x="3004457" y="757646"/>
            <a:ext cx="2743200" cy="163286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en-US" sz="1080" b="1" i="0">
                <a:solidFill>
                  <a:srgbClr val="006B91"/>
                </a:solidFill>
                <a:latin typeface="Arial"/>
              </a:rPr>
              <a:t>B Surface evidence</a:t>
            </a:r>
            <a:endParaRPr lang="en-US"/>
          </a:p>
        </p:txBody>
      </p:sp>
      <p:sp>
        <p:nvSpPr>
          <p:cNvPr id="19" name="pptx-slide1-shape-19" descr="uf:canonical_id=a_heading;uf:object_type=text;uf:representation=NATIVE_TEXT;uf:text_fit=PASS;uf:text_rotation=0"/>
          <p:cNvSpPr txBox="1"/>
          <p:nvPr/>
        </p:nvSpPr>
        <p:spPr>
          <a:xfrm>
            <a:off x="261257" y="757646"/>
            <a:ext cx="2612571" cy="163286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en-US" sz="1080" b="1" i="0">
                <a:solidFill>
                  <a:srgbClr val="006B91"/>
                </a:solidFill>
                <a:latin typeface="Arial"/>
              </a:rPr>
              <a:t>A UAV survey context</a:t>
            </a:r>
            <a:endParaRPr lang="en-US"/>
          </a:p>
        </p:txBody>
      </p:sp>
      <p:sp>
        <p:nvSpPr>
          <p:cNvPr id="20" name="pptx-slide1-shape-20" descr="uf:canonical_id=report;uf:object_type=text;uf:representation=NATIVE_TEXT;uf:text_fit=PASS;uf:text_rotation=0"/>
          <p:cNvSpPr/>
          <p:nvPr/>
        </p:nvSpPr>
        <p:spPr>
          <a:xfrm>
            <a:off x="7543800" y="5270863"/>
            <a:ext cx="1045029" cy="404949"/>
          </a:xfrm>
          <a:prstGeom prst="rect">
            <a:avLst/>
          </a:prstGeom>
          <a:solidFill>
            <a:srgbClr val="FFFFFF"/>
          </a:solidFill>
          <a:ln w="13063">
            <a:solidFill>
              <a:srgbClr val="136F90"/>
            </a:solidFill>
          </a:ln>
        </p:spPr>
        <p:txBody>
          <a:bodyPr wrap="none" anchor="ctr" lIns="45720" tIns="26126" rIns="45720" bIns="26126">
            <a:noAutofit/>
          </a:bodyPr>
          <a:lstStyle/>
          <a:p>
            <a:pPr algn="ctr"/>
            <a:r>
              <a:rPr lang="en-US" sz="823" b="0" i="0">
                <a:solidFill>
                  <a:srgbClr val="006B91"/>
                </a:solidFill>
                <a:latin typeface="Arial"/>
              </a:rPr>
              <a:t>10</a:t>
            </a:r>
            <a:endParaRPr lang="en-US"/>
          </a:p>
          <a:p>
            <a:pPr algn="ctr"/>
            <a:r>
              <a:rPr lang="en-US" sz="823" b="0" i="0">
                <a:solidFill>
                  <a:srgbClr val="006B91"/>
                </a:solidFill>
                <a:latin typeface="Arial"/>
              </a:rPr>
              <a:t>Inspection</a:t>
            </a:r>
            <a:endParaRPr lang="en-US"/>
          </a:p>
          <a:p>
            <a:pPr algn="ctr"/>
            <a:r>
              <a:rPr lang="en-US" sz="823" b="0" i="0">
                <a:solidFill>
                  <a:srgbClr val="006B91"/>
                </a:solidFill>
                <a:latin typeface="Arial"/>
              </a:rPr>
              <a:t>report</a:t>
            </a:r>
            <a:endParaRPr lang="en-US"/>
          </a:p>
        </p:txBody>
      </p:sp>
      <p:sp>
        <p:nvSpPr>
          <p:cNvPr id="21" name="pptx-slide1-shape-21" descr="uf:canonical_id=risk;uf:object_type=text;uf:representation=NATIVE_TEXT;uf:text_fit=PASS;uf:text_rotation=0"/>
          <p:cNvSpPr/>
          <p:nvPr/>
        </p:nvSpPr>
        <p:spPr>
          <a:xfrm>
            <a:off x="7543800" y="4265023"/>
            <a:ext cx="1045029" cy="404949"/>
          </a:xfrm>
          <a:prstGeom prst="rect">
            <a:avLst/>
          </a:prstGeom>
          <a:solidFill>
            <a:srgbClr val="FFFFFF"/>
          </a:solidFill>
          <a:ln w="13063">
            <a:solidFill>
              <a:srgbClr val="136F90"/>
            </a:solidFill>
          </a:ln>
        </p:spPr>
        <p:txBody>
          <a:bodyPr wrap="none" anchor="ctr" lIns="45720" tIns="26126" rIns="45720" bIns="26126">
            <a:noAutofit/>
          </a:bodyPr>
          <a:lstStyle/>
          <a:p>
            <a:pPr algn="ctr"/>
            <a:r>
              <a:rPr lang="en-US" sz="823" b="0" i="0">
                <a:solidFill>
                  <a:srgbClr val="006B91"/>
                </a:solidFill>
                <a:latin typeface="Arial"/>
              </a:rPr>
              <a:t>09</a:t>
            </a:r>
            <a:endParaRPr lang="en-US"/>
          </a:p>
          <a:p>
            <a:pPr algn="ctr"/>
            <a:r>
              <a:rPr lang="en-US" sz="823" b="0" i="0">
                <a:solidFill>
                  <a:srgbClr val="006B91"/>
                </a:solidFill>
                <a:latin typeface="Arial"/>
              </a:rPr>
              <a:t>Risk</a:t>
            </a:r>
            <a:endParaRPr lang="en-US"/>
          </a:p>
          <a:p>
            <a:pPr algn="ctr"/>
            <a:r>
              <a:rPr lang="en-US" sz="823" b="0" i="0">
                <a:solidFill>
                  <a:srgbClr val="006B91"/>
                </a:solidFill>
                <a:latin typeface="Arial"/>
              </a:rPr>
              <a:t>grading</a:t>
            </a:r>
            <a:endParaRPr lang="en-US"/>
          </a:p>
        </p:txBody>
      </p:sp>
      <p:sp>
        <p:nvSpPr>
          <p:cNvPr id="22" name="pptx-slide1-shape-22" descr="uf:canonical_id=crack;uf:object_type=text;uf:representation=NATIVE_TEXT;uf:text_fit=PASS;uf:text_rotation=0"/>
          <p:cNvSpPr/>
          <p:nvPr/>
        </p:nvSpPr>
        <p:spPr>
          <a:xfrm>
            <a:off x="6048103" y="3840480"/>
            <a:ext cx="1025434" cy="404949"/>
          </a:xfrm>
          <a:prstGeom prst="rect">
            <a:avLst/>
          </a:prstGeom>
          <a:solidFill>
            <a:srgbClr val="FFFFFF"/>
          </a:solidFill>
          <a:ln w="13063">
            <a:solidFill>
              <a:srgbClr val="136F90"/>
            </a:solidFill>
          </a:ln>
        </p:spPr>
        <p:txBody>
          <a:bodyPr wrap="none" anchor="ctr" lIns="45720" tIns="26126" rIns="45720" bIns="26126">
            <a:noAutofit/>
          </a:bodyPr>
          <a:lstStyle/>
          <a:p>
            <a:pPr algn="ctr"/>
            <a:r>
              <a:rPr lang="en-US" sz="823" b="0" i="0">
                <a:solidFill>
                  <a:srgbClr val="006B91"/>
                </a:solidFill>
                <a:latin typeface="Arial"/>
              </a:rPr>
              <a:t>07</a:t>
            </a:r>
            <a:endParaRPr lang="en-US"/>
          </a:p>
          <a:p>
            <a:pPr algn="ctr"/>
            <a:r>
              <a:rPr lang="en-US" sz="823" b="0" i="0">
                <a:solidFill>
                  <a:srgbClr val="006B91"/>
                </a:solidFill>
                <a:latin typeface="Arial"/>
              </a:rPr>
              <a:t>Crack</a:t>
            </a:r>
            <a:endParaRPr lang="en-US"/>
          </a:p>
          <a:p>
            <a:pPr algn="ctr"/>
            <a:r>
              <a:rPr lang="en-US" sz="823" b="0" i="0">
                <a:solidFill>
                  <a:srgbClr val="006B91"/>
                </a:solidFill>
                <a:latin typeface="Arial"/>
              </a:rPr>
              <a:t>characterization</a:t>
            </a:r>
            <a:endParaRPr lang="en-US"/>
          </a:p>
        </p:txBody>
      </p:sp>
      <p:sp>
        <p:nvSpPr>
          <p:cNvPr id="23" name="pptx-slide1-shape-23" descr="uf:canonical_id=member_context;uf:object_type=text;uf:representation=NATIVE_TEXT;uf:text_fit=PASS;uf:text_rotation=0"/>
          <p:cNvSpPr/>
          <p:nvPr/>
        </p:nvSpPr>
        <p:spPr>
          <a:xfrm>
            <a:off x="6048103" y="4754880"/>
            <a:ext cx="1025434" cy="404949"/>
          </a:xfrm>
          <a:prstGeom prst="rect">
            <a:avLst/>
          </a:prstGeom>
          <a:solidFill>
            <a:srgbClr val="FFFFFF"/>
          </a:solidFill>
          <a:ln w="13063">
            <a:solidFill>
              <a:srgbClr val="136F90"/>
            </a:solidFill>
          </a:ln>
        </p:spPr>
        <p:txBody>
          <a:bodyPr wrap="none" anchor="ctr" lIns="45720" tIns="26126" rIns="45720" bIns="26126">
            <a:noAutofit/>
          </a:bodyPr>
          <a:lstStyle/>
          <a:p>
            <a:pPr algn="ctr"/>
            <a:r>
              <a:rPr lang="en-US" sz="823" b="0" i="0">
                <a:solidFill>
                  <a:srgbClr val="006B91"/>
                </a:solidFill>
                <a:latin typeface="Arial"/>
              </a:rPr>
              <a:t>08</a:t>
            </a:r>
            <a:endParaRPr lang="en-US"/>
          </a:p>
          <a:p>
            <a:pPr algn="ctr"/>
            <a:r>
              <a:rPr lang="en-US" sz="823" b="0" i="0">
                <a:solidFill>
                  <a:srgbClr val="006B91"/>
                </a:solidFill>
                <a:latin typeface="Arial"/>
              </a:rPr>
              <a:t>Member context</a:t>
            </a:r>
            <a:endParaRPr lang="en-US"/>
          </a:p>
          <a:p>
            <a:pPr algn="ctr"/>
            <a:r>
              <a:rPr lang="en-US" sz="823" b="0" i="0">
                <a:solidFill>
                  <a:srgbClr val="006B91"/>
                </a:solidFill>
                <a:latin typeface="Arial"/>
              </a:rPr>
              <a:t>assessment</a:t>
            </a:r>
            <a:endParaRPr lang="en-US"/>
          </a:p>
        </p:txBody>
      </p:sp>
      <p:sp>
        <p:nvSpPr>
          <p:cNvPr id="24" name="pptx-slide1-shape-24" descr="uf:canonical_id=registration;uf:object_type=text;uf:representation=NATIVE_TEXT;uf:text_fit=PASS;uf:text_rotation=0"/>
          <p:cNvSpPr/>
          <p:nvPr/>
        </p:nvSpPr>
        <p:spPr>
          <a:xfrm>
            <a:off x="3703320" y="3840480"/>
            <a:ext cx="1025434" cy="404949"/>
          </a:xfrm>
          <a:prstGeom prst="rect">
            <a:avLst/>
          </a:prstGeom>
          <a:solidFill>
            <a:srgbClr val="FFFFFF"/>
          </a:solidFill>
          <a:ln w="13063">
            <a:solidFill>
              <a:srgbClr val="136F90"/>
            </a:solidFill>
          </a:ln>
        </p:spPr>
        <p:txBody>
          <a:bodyPr wrap="none" anchor="ctr" lIns="45720" tIns="26126" rIns="45720" bIns="26126">
            <a:noAutofit/>
          </a:bodyPr>
          <a:lstStyle/>
          <a:p>
            <a:pPr algn="ctr"/>
            <a:r>
              <a:rPr lang="en-US" sz="823" b="0" i="0">
                <a:solidFill>
                  <a:srgbClr val="006B91"/>
                </a:solidFill>
                <a:latin typeface="Arial"/>
              </a:rPr>
              <a:t>04</a:t>
            </a:r>
            <a:endParaRPr lang="en-US"/>
          </a:p>
          <a:p>
            <a:pPr algn="ctr"/>
            <a:r>
              <a:rPr lang="en-US" sz="823" b="0" i="0">
                <a:solidFill>
                  <a:srgbClr val="006B91"/>
                </a:solidFill>
                <a:latin typeface="Arial"/>
              </a:rPr>
              <a:t>Geometric</a:t>
            </a:r>
            <a:endParaRPr lang="en-US"/>
          </a:p>
          <a:p>
            <a:pPr algn="ctr"/>
            <a:r>
              <a:rPr lang="en-US" sz="823" b="0" i="0">
                <a:solidFill>
                  <a:srgbClr val="006B91"/>
                </a:solidFill>
                <a:latin typeface="Arial"/>
              </a:rPr>
              <a:t>registration</a:t>
            </a:r>
            <a:endParaRPr lang="en-US"/>
          </a:p>
        </p:txBody>
      </p:sp>
      <p:sp>
        <p:nvSpPr>
          <p:cNvPr id="25" name="pptx-slide1-shape-25" descr="uf:canonical_id=roi_review;uf:object_type=text;uf:representation=NATIVE_TEXT;uf:text_fit=PASS;uf:text_rotation=0"/>
          <p:cNvSpPr/>
          <p:nvPr/>
        </p:nvSpPr>
        <p:spPr>
          <a:xfrm>
            <a:off x="3703320" y="4754880"/>
            <a:ext cx="1025434" cy="404949"/>
          </a:xfrm>
          <a:prstGeom prst="rect">
            <a:avLst/>
          </a:prstGeom>
          <a:solidFill>
            <a:srgbClr val="FFFFFF"/>
          </a:solidFill>
          <a:ln w="13063">
            <a:solidFill>
              <a:srgbClr val="136F90"/>
            </a:solidFill>
          </a:ln>
        </p:spPr>
        <p:txBody>
          <a:bodyPr wrap="none" anchor="ctr" lIns="45720" tIns="26126" rIns="45720" bIns="26126">
            <a:noAutofit/>
          </a:bodyPr>
          <a:lstStyle/>
          <a:p>
            <a:pPr algn="ctr"/>
            <a:r>
              <a:rPr lang="en-US" sz="823" b="0" i="0">
                <a:solidFill>
                  <a:srgbClr val="006B91"/>
                </a:solidFill>
                <a:latin typeface="Arial"/>
              </a:rPr>
              <a:t>05</a:t>
            </a:r>
            <a:endParaRPr lang="en-US"/>
          </a:p>
          <a:p>
            <a:pPr algn="ctr"/>
            <a:r>
              <a:rPr lang="en-US" sz="823" b="0" i="0">
                <a:solidFill>
                  <a:srgbClr val="006B91"/>
                </a:solidFill>
                <a:latin typeface="Arial"/>
              </a:rPr>
              <a:t>Surface ROI</a:t>
            </a:r>
            <a:endParaRPr lang="en-US"/>
          </a:p>
          <a:p>
            <a:pPr algn="ctr"/>
            <a:r>
              <a:rPr lang="en-US" sz="823" b="0" i="0">
                <a:solidFill>
                  <a:srgbClr val="006B91"/>
                </a:solidFill>
                <a:latin typeface="Arial"/>
              </a:rPr>
              <a:t>review</a:t>
            </a:r>
            <a:endParaRPr lang="en-US"/>
          </a:p>
        </p:txBody>
      </p:sp>
      <p:sp>
        <p:nvSpPr>
          <p:cNvPr id="26" name="pptx-slide1-shape-26" descr="uf:canonical_id=footer_note;uf:object_type=text;uf:representation=NATIVE_TEXT;uf:text_fit=PASS;uf:text_rotation=0"/>
          <p:cNvSpPr txBox="1"/>
          <p:nvPr/>
        </p:nvSpPr>
        <p:spPr>
          <a:xfrm>
            <a:off x="5486400" y="6485709"/>
            <a:ext cx="3396343" cy="104503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en-US" sz="617" b="0" i="0">
                <a:solidFill>
                  <a:srgbClr val="537089"/>
                </a:solidFill>
                <a:latin typeface="Arial"/>
              </a:rPr>
              <a:t>Illustration only · not a detection result, measurement dataset or validated Skill reconstruction</a:t>
            </a:r>
            <a:endParaRPr lang="en-US"/>
          </a:p>
        </p:txBody>
      </p:sp>
      <p:sp>
        <p:nvSpPr>
          <p:cNvPr id="27" name="pptx-slide1-shape-27" descr="uf:canonical_id=capture;uf:object_type=text;uf:representation=NATIVE_TEXT;uf:text_fit=PASS;uf:text_rotation=0"/>
          <p:cNvSpPr/>
          <p:nvPr/>
        </p:nvSpPr>
        <p:spPr>
          <a:xfrm>
            <a:off x="1508760" y="4265023"/>
            <a:ext cx="875211" cy="404949"/>
          </a:xfrm>
          <a:prstGeom prst="rect">
            <a:avLst/>
          </a:prstGeom>
          <a:solidFill>
            <a:srgbClr val="FFFFFF"/>
          </a:solidFill>
          <a:ln w="13063">
            <a:solidFill>
              <a:srgbClr val="136F90"/>
            </a:solidFill>
          </a:ln>
        </p:spPr>
        <p:txBody>
          <a:bodyPr wrap="none" anchor="ctr" lIns="45720" tIns="26126" rIns="45720" bIns="26126">
            <a:noAutofit/>
          </a:bodyPr>
          <a:lstStyle/>
          <a:p>
            <a:pPr algn="ctr"/>
            <a:r>
              <a:rPr lang="en-US" sz="823" b="0" i="0">
                <a:solidFill>
                  <a:srgbClr val="006B91"/>
                </a:solidFill>
                <a:latin typeface="Arial"/>
              </a:rPr>
              <a:t>02</a:t>
            </a:r>
            <a:endParaRPr lang="en-US"/>
          </a:p>
          <a:p>
            <a:pPr algn="ctr"/>
            <a:r>
              <a:rPr lang="en-US" sz="823" b="0" i="0">
                <a:solidFill>
                  <a:srgbClr val="006B91"/>
                </a:solidFill>
                <a:latin typeface="Arial"/>
              </a:rPr>
              <a:t>UAV RGB</a:t>
            </a:r>
            <a:endParaRPr lang="en-US"/>
          </a:p>
          <a:p>
            <a:pPr algn="ctr"/>
            <a:r>
              <a:rPr lang="en-US" sz="823" b="0" i="0">
                <a:solidFill>
                  <a:srgbClr val="006B91"/>
                </a:solidFill>
                <a:latin typeface="Arial"/>
              </a:rPr>
              <a:t>capture</a:t>
            </a:r>
            <a:endParaRPr lang="en-US"/>
          </a:p>
        </p:txBody>
      </p:sp>
      <p:sp>
        <p:nvSpPr>
          <p:cNvPr id="28" name="pptx-slide1-shape-28" descr="uf:canonical_id=fusion;uf:object_type=text;uf:representation=NATIVE_TEXT;uf:text_fit=PASS;uf:text_rotation=0"/>
          <p:cNvSpPr/>
          <p:nvPr/>
        </p:nvSpPr>
        <p:spPr>
          <a:xfrm>
            <a:off x="4865914" y="4265023"/>
            <a:ext cx="875211" cy="404949"/>
          </a:xfrm>
          <a:prstGeom prst="rect">
            <a:avLst/>
          </a:prstGeom>
          <a:solidFill>
            <a:srgbClr val="FFFFFF"/>
          </a:solidFill>
          <a:ln w="13063">
            <a:solidFill>
              <a:srgbClr val="136F90"/>
            </a:solidFill>
          </a:ln>
        </p:spPr>
        <p:txBody>
          <a:bodyPr wrap="none" anchor="ctr" lIns="45720" tIns="26126" rIns="45720" bIns="26126">
            <a:noAutofit/>
          </a:bodyPr>
          <a:lstStyle/>
          <a:p>
            <a:pPr algn="ctr"/>
            <a:r>
              <a:rPr lang="en-US" sz="823" b="0" i="0">
                <a:solidFill>
                  <a:srgbClr val="006B91"/>
                </a:solidFill>
                <a:latin typeface="Arial"/>
              </a:rPr>
              <a:t>06</a:t>
            </a:r>
            <a:endParaRPr lang="en-US"/>
          </a:p>
          <a:p>
            <a:pPr algn="ctr"/>
            <a:r>
              <a:rPr lang="en-US" sz="823" b="0" i="0">
                <a:solidFill>
                  <a:srgbClr val="006B91"/>
                </a:solidFill>
                <a:latin typeface="Arial"/>
              </a:rPr>
              <a:t>Evidence</a:t>
            </a:r>
            <a:endParaRPr lang="en-US"/>
          </a:p>
          <a:p>
            <a:pPr algn="ctr"/>
            <a:r>
              <a:rPr lang="en-US" sz="823" b="0" i="0">
                <a:solidFill>
                  <a:srgbClr val="006B91"/>
                </a:solidFill>
                <a:latin typeface="Arial"/>
              </a:rPr>
              <a:t>fusion</a:t>
            </a:r>
            <a:endParaRPr lang="en-US"/>
          </a:p>
        </p:txBody>
      </p:sp>
      <p:sp>
        <p:nvSpPr>
          <p:cNvPr id="29" name="pptx-slide1-shape-29" descr="uf:canonical_id=mission;uf:object_type=text;uf:representation=NATIVE_TEXT;uf:text_fit=PASS;uf:text_rotation=0"/>
          <p:cNvSpPr/>
          <p:nvPr/>
        </p:nvSpPr>
        <p:spPr>
          <a:xfrm>
            <a:off x="509451" y="4265023"/>
            <a:ext cx="875211" cy="404949"/>
          </a:xfrm>
          <a:prstGeom prst="rect">
            <a:avLst/>
          </a:prstGeom>
          <a:solidFill>
            <a:srgbClr val="FFFFFF"/>
          </a:solidFill>
          <a:ln w="13063">
            <a:solidFill>
              <a:srgbClr val="136F90"/>
            </a:solidFill>
          </a:ln>
        </p:spPr>
        <p:txBody>
          <a:bodyPr wrap="none" anchor="ctr" lIns="45720" tIns="26126" rIns="45720" bIns="26126">
            <a:noAutofit/>
          </a:bodyPr>
          <a:lstStyle/>
          <a:p>
            <a:pPr algn="ctr"/>
            <a:r>
              <a:rPr lang="en-US" sz="823" b="0" i="0">
                <a:solidFill>
                  <a:srgbClr val="006B91"/>
                </a:solidFill>
                <a:latin typeface="Arial"/>
              </a:rPr>
              <a:t>01</a:t>
            </a:r>
            <a:endParaRPr lang="en-US"/>
          </a:p>
          <a:p>
            <a:pPr algn="ctr"/>
            <a:r>
              <a:rPr lang="en-US" sz="823" b="0" i="0">
                <a:solidFill>
                  <a:srgbClr val="006B91"/>
                </a:solidFill>
                <a:latin typeface="Arial"/>
              </a:rPr>
              <a:t>Mission</a:t>
            </a:r>
            <a:endParaRPr lang="en-US"/>
          </a:p>
          <a:p>
            <a:pPr algn="ctr"/>
            <a:r>
              <a:rPr lang="en-US" sz="823" b="0" i="0">
                <a:solidFill>
                  <a:srgbClr val="006B91"/>
                </a:solidFill>
                <a:latin typeface="Arial"/>
              </a:rPr>
              <a:t>design</a:t>
            </a:r>
            <a:endParaRPr lang="en-US"/>
          </a:p>
        </p:txBody>
      </p:sp>
      <p:sp>
        <p:nvSpPr>
          <p:cNvPr id="30" name="pptx-slide1-shape-30" descr="uf:canonical_id=quality;uf:object_type=text;uf:representation=NATIVE_TEXT;uf:text_fit=PASS;uf:text_rotation=0"/>
          <p:cNvSpPr/>
          <p:nvPr/>
        </p:nvSpPr>
        <p:spPr>
          <a:xfrm>
            <a:off x="2508069" y="4265023"/>
            <a:ext cx="875211" cy="404949"/>
          </a:xfrm>
          <a:prstGeom prst="rect">
            <a:avLst/>
          </a:prstGeom>
          <a:solidFill>
            <a:srgbClr val="FFFFFF"/>
          </a:solidFill>
          <a:ln w="13063">
            <a:solidFill>
              <a:srgbClr val="136F90"/>
            </a:solidFill>
          </a:ln>
        </p:spPr>
        <p:txBody>
          <a:bodyPr wrap="none" anchor="ctr" lIns="45720" tIns="26126" rIns="45720" bIns="26126">
            <a:noAutofit/>
          </a:bodyPr>
          <a:lstStyle/>
          <a:p>
            <a:pPr algn="ctr"/>
            <a:r>
              <a:rPr lang="en-US" sz="823" b="0" i="0">
                <a:solidFill>
                  <a:srgbClr val="006B91"/>
                </a:solidFill>
                <a:latin typeface="Arial"/>
              </a:rPr>
              <a:t>03</a:t>
            </a:r>
            <a:endParaRPr lang="en-US"/>
          </a:p>
          <a:p>
            <a:pPr algn="ctr"/>
            <a:r>
              <a:rPr lang="en-US" sz="823" b="0" i="0">
                <a:solidFill>
                  <a:srgbClr val="006B91"/>
                </a:solidFill>
                <a:latin typeface="Arial"/>
              </a:rPr>
              <a:t>Image quality</a:t>
            </a:r>
            <a:endParaRPr lang="en-US"/>
          </a:p>
          <a:p>
            <a:pPr algn="ctr"/>
            <a:r>
              <a:rPr lang="en-US" sz="823" b="0" i="0">
                <a:solidFill>
                  <a:srgbClr val="006B91"/>
                </a:solidFill>
                <a:latin typeface="Arial"/>
              </a:rPr>
              <a:t>control</a:t>
            </a:r>
            <a:endParaRPr lang="en-US"/>
          </a:p>
        </p:txBody>
      </p:sp>
      <p:sp>
        <p:nvSpPr>
          <p:cNvPr id="31" name="pptx-slide1-shape-31" descr="uf:canonical_id=d_subtitle;uf:object_type=text;uf:representation=NATIVE_TEXT;uf:text_fit=PASS;uf:text_rotation=0"/>
          <p:cNvSpPr txBox="1"/>
          <p:nvPr/>
        </p:nvSpPr>
        <p:spPr>
          <a:xfrm>
            <a:off x="5878286" y="953589"/>
            <a:ext cx="3004457" cy="111034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en-US" sz="669" b="0" i="0">
                <a:solidFill>
                  <a:srgbClr val="537089"/>
                </a:solidFill>
                <a:latin typeface="Arial"/>
              </a:rPr>
              <a:t>30 synthetic cases; not inferred from panel B</a:t>
            </a:r>
            <a:endParaRPr lang="en-US"/>
          </a:p>
        </p:txBody>
      </p:sp>
      <p:sp>
        <p:nvSpPr>
          <p:cNvPr id="32" name="pptx-slide1-shape-32" descr="uf:canonical_id=inputs_content;uf:object_type=text;uf:representation=NATIVE_TEXT;uf:text_fit=PASS;uf:text_rotation=0"/>
          <p:cNvSpPr txBox="1"/>
          <p:nvPr/>
        </p:nvSpPr>
        <p:spPr>
          <a:xfrm>
            <a:off x="640080" y="5564777"/>
            <a:ext cx="2612571" cy="117566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en-US" sz="669" b="0" i="0">
                <a:solidFill>
                  <a:srgbClr val="537089"/>
                </a:solidFill>
                <a:latin typeface="Arial"/>
              </a:rPr>
              <a:t>RGB imagery + mission metadata</a:t>
            </a:r>
            <a:endParaRPr lang="en-US"/>
          </a:p>
        </p:txBody>
      </p:sp>
      <p:sp>
        <p:nvSpPr>
          <p:cNvPr id="33" name="pptx-slide1-shape-33" descr="uf:canonical_id=inputs_heading;uf:object_type=text;uf:representation=NATIVE_TEXT;uf:text_fit=PASS;uf:text_rotation=0"/>
          <p:cNvSpPr txBox="1"/>
          <p:nvPr/>
        </p:nvSpPr>
        <p:spPr>
          <a:xfrm>
            <a:off x="640080" y="5421086"/>
            <a:ext cx="2612571" cy="117566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en-US" sz="669" b="1" i="0">
                <a:solidFill>
                  <a:srgbClr val="006B91"/>
                </a:solidFill>
                <a:latin typeface="Arial"/>
              </a:rPr>
              <a:t>Inputs</a:t>
            </a:r>
            <a:endParaRPr lang="en-US"/>
          </a:p>
        </p:txBody>
      </p:sp>
      <p:sp>
        <p:nvSpPr>
          <p:cNvPr id="34" name="pptx-slide1-shape-34" descr="uf:canonical_id=b_subtitle;uf:object_type=text;uf:representation=NATIVE_TEXT;uf:text_fit=PASS;uf:text_rotation=0"/>
          <p:cNvSpPr txBox="1"/>
          <p:nvPr/>
        </p:nvSpPr>
        <p:spPr>
          <a:xfrm>
            <a:off x="3004457" y="953589"/>
            <a:ext cx="2743200" cy="111034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en-US" sz="669" b="0" i="0">
                <a:solidFill>
                  <a:srgbClr val="537089"/>
                </a:solidFill>
                <a:latin typeface="Arial"/>
              </a:rPr>
              <a:t>Program-generated concrete / crack texture</a:t>
            </a:r>
            <a:endParaRPr lang="en-US"/>
          </a:p>
        </p:txBody>
      </p:sp>
      <p:sp>
        <p:nvSpPr>
          <p:cNvPr id="35" name="pptx-slide1-shape-35" descr="uf:canonical_id=raster_legend;uf:object_type=text;uf:representation=NATIVE_TEXT;uf:text_fit=PASS;uf:text_rotation=0"/>
          <p:cNvSpPr txBox="1"/>
          <p:nvPr/>
        </p:nvSpPr>
        <p:spPr>
          <a:xfrm>
            <a:off x="2782389" y="6283234"/>
            <a:ext cx="2514600" cy="117566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en-US" sz="617" b="0" i="0">
                <a:solidFill>
                  <a:srgbClr val="537089"/>
                </a:solidFill>
                <a:latin typeface="Arial"/>
              </a:rPr>
              <a:t>Raster candidate: textured surface evidence</a:t>
            </a:r>
            <a:endParaRPr lang="en-US"/>
          </a:p>
        </p:txBody>
      </p:sp>
      <p:sp>
        <p:nvSpPr>
          <p:cNvPr id="36" name="pptx-slide1-shape-36" descr="uf:canonical_id=a_subtitle;uf:object_type=text;uf:representation=NATIVE_TEXT;uf:text_fit=PASS;uf:text_rotation=0"/>
          <p:cNvSpPr txBox="1"/>
          <p:nvPr/>
        </p:nvSpPr>
        <p:spPr>
          <a:xfrm>
            <a:off x="261257" y="953589"/>
            <a:ext cx="2612571" cy="111034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en-US" sz="669" b="0" i="0">
                <a:solidFill>
                  <a:srgbClr val="537089"/>
                </a:solidFill>
                <a:latin typeface="Arial"/>
              </a:rPr>
              <a:t>Conceptual geometry; no real site</a:t>
            </a:r>
            <a:endParaRPr lang="en-US"/>
          </a:p>
        </p:txBody>
      </p:sp>
      <p:sp>
        <p:nvSpPr>
          <p:cNvPr id="37" name="pptx-slide1-shape-37" descr="uf:canonical_id=relation_legend;uf:object_type=text;uf:representation=NATIVE_TEXT;uf:text_fit=PASS;uf:text_rotation=0"/>
          <p:cNvSpPr txBox="1"/>
          <p:nvPr/>
        </p:nvSpPr>
        <p:spPr>
          <a:xfrm>
            <a:off x="5623560" y="6283234"/>
            <a:ext cx="2286000" cy="117566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en-US" sz="617" b="0" i="0">
                <a:solidFill>
                  <a:srgbClr val="537089"/>
                </a:solidFill>
                <a:latin typeface="Arial"/>
              </a:rPr>
              <a:t>Directed scientific relation</a:t>
            </a:r>
            <a:endParaRPr lang="en-US"/>
          </a:p>
        </p:txBody>
      </p:sp>
      <p:sp>
        <p:nvSpPr>
          <p:cNvPr id="38" name="pptx-slide1-shape-38" descr="uf:canonical_id=preserve_content;uf:object_type=text;uf:representation=NATIVE_TEXT;uf:text_fit=PASS;uf:text_rotation=0"/>
          <p:cNvSpPr txBox="1"/>
          <p:nvPr/>
        </p:nvSpPr>
        <p:spPr>
          <a:xfrm>
            <a:off x="3722914" y="5564777"/>
            <a:ext cx="2122714" cy="117566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en-US" sz="669" b="0" i="0">
                <a:solidFill>
                  <a:srgbClr val="537089"/>
                </a:solidFill>
                <a:latin typeface="Arial"/>
              </a:rPr>
              <a:t>No guessed geometry or physical measurements</a:t>
            </a:r>
            <a:endParaRPr lang="en-US"/>
          </a:p>
        </p:txBody>
      </p:sp>
      <p:sp>
        <p:nvSpPr>
          <p:cNvPr id="39" name="pptx-slide1-shape-39" descr="uf:canonical_id=preserve_heading;uf:object_type=text;uf:representation=NATIVE_TEXT;uf:text_fit=PASS;uf:text_rotation=0"/>
          <p:cNvSpPr txBox="1"/>
          <p:nvPr/>
        </p:nvSpPr>
        <p:spPr>
          <a:xfrm>
            <a:off x="3722914" y="5421086"/>
            <a:ext cx="2090057" cy="117566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en-US" sz="669" b="1" i="0">
                <a:solidFill>
                  <a:srgbClr val="006B91"/>
                </a:solidFill>
                <a:latin typeface="Arial"/>
              </a:rPr>
              <a:t>Preserve uncertain evidence</a:t>
            </a:r>
            <a:endParaRPr lang="en-US"/>
          </a:p>
        </p:txBody>
      </p:sp>
      <p:sp>
        <p:nvSpPr>
          <p:cNvPr id="40" name="pptx-slide1-shape-40" descr="uf:canonical_id=native_legend;uf:object_type=text;uf:representation=NATIVE_TEXT;uf:text_fit=PASS;uf:text_rotation=0"/>
          <p:cNvSpPr txBox="1"/>
          <p:nvPr/>
        </p:nvSpPr>
        <p:spPr>
          <a:xfrm>
            <a:off x="450669" y="6283234"/>
            <a:ext cx="2024743" cy="117566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en-US" sz="617" b="0" i="0">
                <a:solidFill>
                  <a:srgbClr val="537089"/>
                </a:solidFill>
                <a:latin typeface="Arial"/>
              </a:rPr>
              <a:t>Native candidate: labels / route nodes</a:t>
            </a:r>
            <a:endParaRPr lang="en-US"/>
          </a:p>
        </p:txBody>
      </p:sp>
      <p:sp>
        <p:nvSpPr>
          <p:cNvPr id="41" name="pptx-slide1-shape-41" descr="uf:canonical_id=synthetic;uf:object_type=text;uf:representation=NATIVE_TEXT;uf:text_fit=PASS;uf:text_rotation=0"/>
          <p:cNvSpPr txBox="1"/>
          <p:nvPr/>
        </p:nvSpPr>
        <p:spPr>
          <a:xfrm>
            <a:off x="7413171" y="313509"/>
            <a:ext cx="1469571" cy="124097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en-US" sz="823" b="1" i="0">
                <a:solidFill>
                  <a:srgbClr val="006B91"/>
                </a:solidFill>
                <a:latin typeface="Arial"/>
              </a:rPr>
              <a:t>Synthetic / Illustrative</a:t>
            </a:r>
            <a:endParaRPr lang="en-US"/>
          </a:p>
        </p:txBody>
      </p:sp>
      <p:sp>
        <p:nvSpPr>
          <p:cNvPr id="42" name="pptx-slide1-shape-42" descr="uf:canonical_id=original_source;uf:object_type=text;uf:representation=NATIVE_TEXT;uf:text_fit=PASS;uf:text_rotation=0"/>
          <p:cNvSpPr txBox="1"/>
          <p:nvPr/>
        </p:nvSpPr>
        <p:spPr>
          <a:xfrm>
            <a:off x="7413171" y="169817"/>
            <a:ext cx="1469571" cy="111034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en-US" sz="669" b="0" i="0">
                <a:solidFill>
                  <a:srgbClr val="537089"/>
                </a:solidFill>
                <a:latin typeface="Arial"/>
              </a:rPr>
              <a:t>ORIGINAL SOURCE FIGURE</a:t>
            </a:r>
            <a:endParaRPr lang="en-US"/>
          </a:p>
        </p:txBody>
      </p:sp>
      <p:sp>
        <p:nvSpPr>
          <p:cNvPr id="43" name="pptx-slide1-shape-43" descr="uf:canonical_id=not_reconstructed;uf:object_type=text;uf:representation=NATIVE_TEXT;uf:text_fit=PASS;uf:text_rotation=0"/>
          <p:cNvSpPr txBox="1"/>
          <p:nvPr/>
        </p:nvSpPr>
        <p:spPr>
          <a:xfrm>
            <a:off x="7282543" y="470263"/>
            <a:ext cx="1600200" cy="97971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en-US" sz="617" b="0" i="0">
                <a:solidFill>
                  <a:srgbClr val="537089"/>
                </a:solidFill>
                <a:latin typeface="Arial"/>
              </a:rPr>
              <a:t>NOT RECONSTRUCTED BY THE SKILL</a:t>
            </a:r>
            <a:endParaRPr lang="en-US"/>
          </a:p>
        </p:txBody>
      </p:sp>
      <p:cxnSp>
        <p:nvCxnSpPr>
          <p:cNvPr id="44" name="pptx-slide1-connector-44" descr="uf:attachment=ATTACHED_VERIFIED;uf:canonical_id=capture_quality;uf:direction=SOURCE_TO_TARGET;uf:object_type=relation;uf:relation_type=FLOW;uf:representation=NATIVE_RELATION;uf:route_source=CANONICAL_ROUTE_POINTS;uf:route_type=STRAIGHT;uf:source_id=capture;uf:target_id=quality"/>
          <p:cNvCxnSpPr>
            <a:stCxn id="27" idx="3"/>
            <a:endCxn id="30" idx="1"/>
          </p:cNvCxnSpPr>
          <p:nvPr/>
        </p:nvCxnSpPr>
        <p:spPr>
          <a:xfrm>
            <a:off x="2383971" y="4467497"/>
            <a:ext cx="124097" cy="1"/>
          </a:xfrm>
          <a:prstGeom prst="line">
            <a:avLst/>
          </a:prstGeom>
          <a:ln w="13063">
            <a:solidFill>
              <a:srgbClr val="126787"/>
            </a:solidFill>
            <a:headEnd type="none"/>
            <a:tailEnd type="triangle"/>
          </a:ln>
        </p:spPr>
      </p:cxnSp>
      <p:cxnSp>
        <p:nvCxnSpPr>
          <p:cNvPr id="45" name="pptx-slide1-connector-45" descr="uf:attachment=ATTACHED_VERIFIED;uf:canonical_id=context_risk;uf:direction=SOURCE_TO_TARGET;uf:object_type=relation;uf:relation_type=FLOW;uf:representation=NATIVE_RELATION;uf:route_source=CANONICAL_ROUTE_POINTS;uf:route_type=ELBOW;uf:source_id=member_context;uf:target_id=risk"/>
          <p:cNvCxnSpPr>
            <a:stCxn id="23" idx="3"/>
            <a:endCxn id="21" idx="1"/>
          </p:cNvCxnSpPr>
          <p:nvPr/>
        </p:nvCxnSpPr>
        <p:spPr>
          <a:xfrm flipV="1">
            <a:off x="7073537" y="4467497"/>
            <a:ext cx="470263" cy="489857"/>
          </a:xfrm>
          <a:prstGeom prst="bentConnector3">
            <a:avLst>
              <a:gd name="adj1" fmla="val 50000"/>
            </a:avLst>
          </a:prstGeom>
          <a:ln w="13063">
            <a:solidFill>
              <a:srgbClr val="126787"/>
            </a:solidFill>
            <a:headEnd type="none"/>
            <a:tailEnd type="triangle"/>
          </a:ln>
        </p:spPr>
      </p:cxnSp>
      <p:cxnSp>
        <p:nvCxnSpPr>
          <p:cNvPr id="46" name="pptx-slide1-connector-46" descr="uf:attachment=ATTACHED_VERIFIED;uf:canonical_id=crack_risk;uf:direction=SOURCE_TO_TARGET;uf:object_type=relation;uf:relation_type=FLOW;uf:representation=NATIVE_RELATION;uf:route_source=CANONICAL_ROUTE_POINTS;uf:route_type=ELBOW;uf:source_id=crack;uf:target_id=risk"/>
          <p:cNvCxnSpPr>
            <a:stCxn id="22" idx="3"/>
            <a:endCxn id="21" idx="1"/>
          </p:cNvCxnSpPr>
          <p:nvPr/>
        </p:nvCxnSpPr>
        <p:spPr>
          <a:xfrm>
            <a:off x="7073537" y="4042954"/>
            <a:ext cx="470263" cy="424543"/>
          </a:xfrm>
          <a:prstGeom prst="bentConnector3">
            <a:avLst>
              <a:gd name="adj1" fmla="val 50000"/>
            </a:avLst>
          </a:prstGeom>
          <a:ln w="13063">
            <a:solidFill>
              <a:srgbClr val="126787"/>
            </a:solidFill>
            <a:headEnd type="none"/>
            <a:tailEnd type="triangle"/>
          </a:ln>
        </p:spPr>
      </p:cxnSp>
      <p:cxnSp>
        <p:nvCxnSpPr>
          <p:cNvPr id="47" name="pptx-slide1-connector-47" descr="uf:attachment=ATTACHED_VERIFIED;uf:canonical_id=fusion_context;uf:direction=SOURCE_TO_TARGET;uf:object_type=relation;uf:relation_type=FLOW;uf:representation=NATIVE_RELATION;uf:route_source=CANONICAL_ROUTE_POINTS;uf:route_type=ELBOW;uf:source_id=fusion;uf:target_id=member_context"/>
          <p:cNvCxnSpPr>
            <a:stCxn id="28" idx="3"/>
            <a:endCxn id="23" idx="1"/>
          </p:cNvCxnSpPr>
          <p:nvPr/>
        </p:nvCxnSpPr>
        <p:spPr>
          <a:xfrm>
            <a:off x="5741126" y="4467497"/>
            <a:ext cx="306977" cy="489857"/>
          </a:xfrm>
          <a:prstGeom prst="bentConnector3">
            <a:avLst>
              <a:gd name="adj1" fmla="val 34043"/>
            </a:avLst>
          </a:prstGeom>
          <a:ln w="13063">
            <a:solidFill>
              <a:srgbClr val="126787"/>
            </a:solidFill>
            <a:headEnd type="none"/>
            <a:tailEnd type="triangle"/>
          </a:ln>
        </p:spPr>
      </p:cxnSp>
      <p:cxnSp>
        <p:nvCxnSpPr>
          <p:cNvPr id="48" name="pptx-slide1-connector-48" descr="uf:attachment=ATTACHED_VERIFIED;uf:canonical_id=fusion_crack;uf:direction=SOURCE_TO_TARGET;uf:object_type=relation;uf:relation_type=FLOW;uf:representation=NATIVE_RELATION;uf:route_source=CANONICAL_ROUTE_POINTS;uf:route_type=ELBOW;uf:source_id=fusion;uf:target_id=crack"/>
          <p:cNvCxnSpPr>
            <a:stCxn id="28" idx="3"/>
            <a:endCxn id="22" idx="1"/>
          </p:cNvCxnSpPr>
          <p:nvPr/>
        </p:nvCxnSpPr>
        <p:spPr>
          <a:xfrm flipV="1">
            <a:off x="5741126" y="4042954"/>
            <a:ext cx="306977" cy="424543"/>
          </a:xfrm>
          <a:prstGeom prst="bentConnector3">
            <a:avLst>
              <a:gd name="adj1" fmla="val 34043"/>
            </a:avLst>
          </a:prstGeom>
          <a:ln w="13063">
            <a:solidFill>
              <a:srgbClr val="126787"/>
            </a:solidFill>
            <a:headEnd type="none"/>
            <a:tailEnd type="triangle"/>
          </a:ln>
        </p:spPr>
      </p:cxnSp>
      <p:cxnSp>
        <p:nvCxnSpPr>
          <p:cNvPr id="49" name="pptx-slide1-connector-49" descr="uf:attachment=ATTACHED_VERIFIED;uf:canonical_id=mission_capture;uf:direction=SOURCE_TO_TARGET;uf:object_type=relation;uf:relation_type=FLOW;uf:representation=NATIVE_RELATION;uf:route_source=CANONICAL_ROUTE_POINTS;uf:route_type=STRAIGHT;uf:source_id=mission;uf:target_id=capture"/>
          <p:cNvCxnSpPr>
            <a:stCxn id="29" idx="3"/>
            <a:endCxn id="27" idx="1"/>
          </p:cNvCxnSpPr>
          <p:nvPr/>
        </p:nvCxnSpPr>
        <p:spPr>
          <a:xfrm>
            <a:off x="1384663" y="4467497"/>
            <a:ext cx="124097" cy="1"/>
          </a:xfrm>
          <a:prstGeom prst="line">
            <a:avLst/>
          </a:prstGeom>
          <a:ln w="13063">
            <a:solidFill>
              <a:srgbClr val="126787"/>
            </a:solidFill>
            <a:headEnd type="none"/>
            <a:tailEnd type="triangle"/>
          </a:ln>
        </p:spPr>
      </p:cxnSp>
      <p:cxnSp>
        <p:nvCxnSpPr>
          <p:cNvPr id="50" name="pptx-slide1-connector-50" descr="uf:attachment=ATTACHED_VERIFIED;uf:canonical_id=quality_registration;uf:direction=SOURCE_TO_TARGET;uf:object_type=relation;uf:relation_type=FLOW;uf:representation=NATIVE_RELATION;uf:route_source=CANONICAL_ROUTE_POINTS;uf:route_type=ELBOW;uf:source_id=quality;uf:target_id=registration"/>
          <p:cNvCxnSpPr>
            <a:stCxn id="30" idx="3"/>
            <a:endCxn id="24" idx="1"/>
          </p:cNvCxnSpPr>
          <p:nvPr/>
        </p:nvCxnSpPr>
        <p:spPr>
          <a:xfrm flipV="1">
            <a:off x="3383280" y="4042954"/>
            <a:ext cx="320040" cy="424543"/>
          </a:xfrm>
          <a:prstGeom prst="bentConnector3">
            <a:avLst>
              <a:gd name="adj1" fmla="val 40816"/>
            </a:avLst>
          </a:prstGeom>
          <a:ln w="13063">
            <a:solidFill>
              <a:srgbClr val="126787"/>
            </a:solidFill>
            <a:headEnd type="none"/>
            <a:tailEnd type="triangle"/>
          </a:ln>
        </p:spPr>
      </p:cxnSp>
      <p:cxnSp>
        <p:nvCxnSpPr>
          <p:cNvPr id="51" name="pptx-slide1-connector-51" descr="uf:attachment=ATTACHED_VERIFIED;uf:canonical_id=quality_roi;uf:direction=SOURCE_TO_TARGET;uf:object_type=relation;uf:relation_type=FLOW;uf:representation=NATIVE_RELATION;uf:route_source=CANONICAL_ROUTE_POINTS;uf:route_type=ELBOW;uf:source_id=quality;uf:target_id=roi_review"/>
          <p:cNvCxnSpPr>
            <a:stCxn id="30" idx="3"/>
            <a:endCxn id="25" idx="1"/>
          </p:cNvCxnSpPr>
          <p:nvPr/>
        </p:nvCxnSpPr>
        <p:spPr>
          <a:xfrm>
            <a:off x="3383280" y="4467497"/>
            <a:ext cx="320040" cy="489857"/>
          </a:xfrm>
          <a:prstGeom prst="bentConnector3">
            <a:avLst>
              <a:gd name="adj1" fmla="val 40816"/>
            </a:avLst>
          </a:prstGeom>
          <a:ln w="13063">
            <a:solidFill>
              <a:srgbClr val="126787"/>
            </a:solidFill>
            <a:headEnd type="none"/>
            <a:tailEnd type="triangle"/>
          </a:ln>
        </p:spPr>
      </p:cxnSp>
      <p:cxnSp>
        <p:nvCxnSpPr>
          <p:cNvPr id="52" name="pptx-slide1-connector-52" descr="uf:attachment=ATTACHED_VERIFIED;uf:canonical_id=registration_fusion;uf:direction=SOURCE_TO_TARGET;uf:object_type=relation;uf:relation_type=FLOW;uf:representation=NATIVE_RELATION;uf:route_source=CANONICAL_ROUTE_POINTS;uf:route_type=ELBOW;uf:source_id=registration;uf:target_id=fusion"/>
          <p:cNvCxnSpPr>
            <a:stCxn id="24" idx="3"/>
            <a:endCxn id="28" idx="1"/>
          </p:cNvCxnSpPr>
          <p:nvPr/>
        </p:nvCxnSpPr>
        <p:spPr>
          <a:xfrm>
            <a:off x="4728754" y="4042954"/>
            <a:ext cx="137160" cy="424543"/>
          </a:xfrm>
          <a:prstGeom prst="bentConnector3">
            <a:avLst>
              <a:gd name="adj1" fmla="val 57143"/>
            </a:avLst>
          </a:prstGeom>
          <a:ln w="13063">
            <a:solidFill>
              <a:srgbClr val="126787"/>
            </a:solidFill>
            <a:headEnd type="none"/>
            <a:tailEnd type="triangle"/>
          </a:ln>
        </p:spPr>
      </p:cxnSp>
      <p:cxnSp>
        <p:nvCxnSpPr>
          <p:cNvPr id="53" name="pptx-slide1-connector-53" descr="uf:attachment=ATTACHED_VERIFIED;uf:canonical_id=risk_report;uf:direction=SOURCE_TO_TARGET;uf:object_type=relation;uf:relation_type=FLOW;uf:representation=NATIVE_RELATION;uf:route_source=CANONICAL_ROUTE_POINTS;uf:route_type=STRAIGHT;uf:source_id=risk;uf:target_id=report"/>
          <p:cNvCxnSpPr>
            <a:stCxn id="21" idx="2"/>
            <a:endCxn id="20" idx="0"/>
          </p:cNvCxnSpPr>
          <p:nvPr/>
        </p:nvCxnSpPr>
        <p:spPr>
          <a:xfrm>
            <a:off x="8066314" y="4669971"/>
            <a:ext cx="1" cy="600891"/>
          </a:xfrm>
          <a:prstGeom prst="line">
            <a:avLst/>
          </a:prstGeom>
          <a:ln w="13063">
            <a:solidFill>
              <a:srgbClr val="126787"/>
            </a:solidFill>
            <a:headEnd type="none"/>
            <a:tailEnd type="triangle"/>
          </a:ln>
        </p:spPr>
      </p:cxnSp>
      <p:cxnSp>
        <p:nvCxnSpPr>
          <p:cNvPr id="54" name="pptx-slide1-connector-54" descr="uf:attachment=ATTACHED_VERIFIED;uf:canonical_id=roi_fusion;uf:direction=SOURCE_TO_TARGET;uf:object_type=relation;uf:relation_type=FLOW;uf:representation=NATIVE_RELATION;uf:route_source=CANONICAL_ROUTE_POINTS;uf:route_type=ELBOW;uf:source_id=roi_review;uf:target_id=fusion"/>
          <p:cNvCxnSpPr>
            <a:stCxn id="25" idx="3"/>
            <a:endCxn id="28" idx="1"/>
          </p:cNvCxnSpPr>
          <p:nvPr/>
        </p:nvCxnSpPr>
        <p:spPr>
          <a:xfrm flipV="1">
            <a:off x="4728754" y="4467497"/>
            <a:ext cx="137160" cy="489857"/>
          </a:xfrm>
          <a:prstGeom prst="bentConnector3">
            <a:avLst>
              <a:gd name="adj1" fmla="val 57143"/>
            </a:avLst>
          </a:prstGeom>
          <a:ln w="13063">
            <a:solidFill>
              <a:srgbClr val="126787"/>
            </a:solidFill>
            <a:headEnd type="none"/>
            <a:tailEnd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Generated neutral theme">
  <a:themeElements>
    <a:clrScheme name="Neutral">
      <a:dk1>
        <a:srgbClr val="000000"/>
      </a:dk1>
      <a:lt1>
        <a:srgbClr val="FFFFFF"/>
      </a:lt1>
      <a:dk2>
        <a:srgbClr val="222222"/>
      </a:dk2>
      <a:lt2>
        <a:srgbClr val="EEEEEE"/>
      </a:lt2>
      <a:accent1>
        <a:srgbClr val="345678"/>
      </a:accent1>
      <a:accent2>
        <a:srgbClr val="567834"/>
      </a:accent2>
      <a:accent3>
        <a:srgbClr val="783456"/>
      </a:accent3>
      <a:accent4>
        <a:srgbClr val="456789"/>
      </a:accent4>
      <a:accent5>
        <a:srgbClr val="678945"/>
      </a:accent5>
      <a:accent6>
        <a:srgbClr val="894567"/>
      </a:accent6>
      <a:hlink>
        <a:srgbClr val="0000FF"/>
      </a:hlink>
      <a:folHlink>
        <a:srgbClr val="800080"/>
      </a:folHlink>
    </a:clrScheme>
    <a:fontScheme name="User installed font references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Minimal standard style matri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